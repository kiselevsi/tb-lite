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Slides/notesSlide9.xml" ContentType="application/vnd.openxmlformats-officedocument.presentationml.notes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36"/>
  </p:notes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207540528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020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332213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95804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6199172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017184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123031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430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075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247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ADF0B-D519-D325-1D25-A71465DDE5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82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9376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932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644369-7138-4509-1E2B-30B85B41F5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104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2765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577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691AAE-A6F7-53CF-227A-8E058555B9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74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8191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190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A632C5-C379-0588-B4E3-9777B4D777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389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459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10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C3DB9-0E68-51C3-0C42-D4D5719E55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996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0863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23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674042-0ACF-158F-E23E-7AC05FB6AB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093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3026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431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BA8191-17BA-0B70-962D-B8FE5B12A7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217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69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741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0ED390-1B2B-F94B-20A0-3ABBC5249D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282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1992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7531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F483E-E394-4BCF-E495-DF6E81BD79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067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79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082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2737D-6631-EA8A-1969-B86EC158EF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604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202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369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4FEE71-821B-A8C8-506F-A0A8AA940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79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044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175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C46448-A0ED-222A-6BB5-456A6CF1F4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33951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35959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280658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47895538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71258943-F188-4475-9F14-63B0548F7788}" type="slidenum">
              <a:rPr/>
              <a:t>&lt;#&gt;</a:t>
            </a:fld>
            <a:endParaRPr/>
          </a:p>
        </p:txBody>
      </p:sp>
      <p:sp>
        <p:nvSpPr>
          <p:cNvPr id="2076216129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567068" name="PlaceHolder 1"/>
          <p:cNvSpPr>
            <a:spLocks noGrp="1"/>
          </p:cNvSpPr>
          <p:nvPr>
            <p:ph type="ftr" idx="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79199823" name="PlaceHolder 2"/>
          <p:cNvSpPr>
            <a:spLocks noGrp="1"/>
          </p:cNvSpPr>
          <p:nvPr>
            <p:ph type="sldNum" idx="5"/>
          </p:nvPr>
        </p:nvSpPr>
        <p:spPr bwMode="auto"/>
        <p:txBody>
          <a:bodyPr/>
          <a:p>
            <a:pPr>
              <a:defRPr/>
            </a:pPr>
            <a:fld id="{97D81C57-6AFF-4F59-A360-EA9ABD8BD3EC}" type="slidenum">
              <a:rPr/>
              <a:t>&lt;#&gt;</a:t>
            </a:fld>
            <a:endParaRPr/>
          </a:p>
        </p:txBody>
      </p:sp>
      <p:sp>
        <p:nvSpPr>
          <p:cNvPr id="1567730945" name="PlaceHolder 3"/>
          <p:cNvSpPr>
            <a:spLocks noGrp="1"/>
          </p:cNvSpPr>
          <p:nvPr>
            <p:ph type="dt" idx="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000364" name="PlaceHolder 1"/>
          <p:cNvSpPr>
            <a:spLocks noGrp="1"/>
          </p:cNvSpPr>
          <p:nvPr>
            <p:ph type="ftr" idx="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9842890" name="PlaceHolder 2"/>
          <p:cNvSpPr>
            <a:spLocks noGrp="1"/>
          </p:cNvSpPr>
          <p:nvPr>
            <p:ph type="sldNum" idx="8"/>
          </p:nvPr>
        </p:nvSpPr>
        <p:spPr bwMode="auto"/>
        <p:txBody>
          <a:bodyPr/>
          <a:p>
            <a:pPr>
              <a:defRPr/>
            </a:pPr>
            <a:fld id="{C6F05F7A-49D9-4DD3-9F60-756C7BF71570}" type="slidenum">
              <a:rPr/>
              <a:t>&lt;#&gt;</a:t>
            </a:fld>
            <a:endParaRPr/>
          </a:p>
        </p:txBody>
      </p:sp>
      <p:sp>
        <p:nvSpPr>
          <p:cNvPr id="1143642785" name="PlaceHolder 3"/>
          <p:cNvSpPr>
            <a:spLocks noGrp="1"/>
          </p:cNvSpPr>
          <p:nvPr>
            <p:ph type="dt" idx="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60113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066334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943832" name="PlaceHolder 3"/>
          <p:cNvSpPr>
            <a:spLocks noGrp="1"/>
          </p:cNvSpPr>
          <p:nvPr>
            <p:ph type="ftr" idx="1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29580428" name="PlaceHolder 4"/>
          <p:cNvSpPr>
            <a:spLocks noGrp="1"/>
          </p:cNvSpPr>
          <p:nvPr>
            <p:ph type="sldNum" idx="11"/>
          </p:nvPr>
        </p:nvSpPr>
        <p:spPr bwMode="auto"/>
        <p:txBody>
          <a:bodyPr/>
          <a:p>
            <a:pPr>
              <a:defRPr/>
            </a:pPr>
            <a:fld id="{3C7A4EC1-838A-467C-97A9-2FF0D6C211AB}" type="slidenum">
              <a:rPr/>
              <a:t>&lt;#&gt;</a:t>
            </a:fld>
            <a:endParaRPr/>
          </a:p>
        </p:txBody>
      </p:sp>
      <p:sp>
        <p:nvSpPr>
          <p:cNvPr id="697897497" name="PlaceHolder 5"/>
          <p:cNvSpPr>
            <a:spLocks noGrp="1"/>
          </p:cNvSpPr>
          <p:nvPr>
            <p:ph type="dt" idx="1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032523" name="PlaceHolder 1"/>
          <p:cNvSpPr>
            <a:spLocks noGrp="1"/>
          </p:cNvSpPr>
          <p:nvPr>
            <p:ph type="ftr" idx="1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71160030" name="PlaceHolder 2"/>
          <p:cNvSpPr>
            <a:spLocks noGrp="1"/>
          </p:cNvSpPr>
          <p:nvPr>
            <p:ph type="sldNum" idx="14"/>
          </p:nvPr>
        </p:nvSpPr>
        <p:spPr bwMode="auto"/>
        <p:txBody>
          <a:bodyPr/>
          <a:p>
            <a:pPr>
              <a:defRPr/>
            </a:pPr>
            <a:fld id="{28C2C2E1-C50B-4716-A35C-810D5DDA1FAB}" type="slidenum">
              <a:rPr/>
              <a:t>&lt;#&gt;</a:t>
            </a:fld>
            <a:endParaRPr/>
          </a:p>
        </p:txBody>
      </p:sp>
      <p:sp>
        <p:nvSpPr>
          <p:cNvPr id="289737646" name="PlaceHolder 3"/>
          <p:cNvSpPr>
            <a:spLocks noGrp="1"/>
          </p:cNvSpPr>
          <p:nvPr>
            <p:ph type="dt" idx="1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13111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6100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96020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706720" name="PlaceHolder 4"/>
          <p:cNvSpPr>
            <a:spLocks noGrp="1"/>
          </p:cNvSpPr>
          <p:nvPr>
            <p:ph type="ftr" idx="1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841485565" name="PlaceHolder 5"/>
          <p:cNvSpPr>
            <a:spLocks noGrp="1"/>
          </p:cNvSpPr>
          <p:nvPr>
            <p:ph type="sldNum" idx="17"/>
          </p:nvPr>
        </p:nvSpPr>
        <p:spPr bwMode="auto"/>
        <p:txBody>
          <a:bodyPr/>
          <a:p>
            <a:pPr>
              <a:defRPr/>
            </a:pPr>
            <a:fld id="{F230C18E-C2A8-417E-A886-7645E30E57E1}" type="slidenum">
              <a:rPr/>
              <a:t>&lt;#&gt;</a:t>
            </a:fld>
            <a:endParaRPr/>
          </a:p>
        </p:txBody>
      </p:sp>
      <p:sp>
        <p:nvSpPr>
          <p:cNvPr id="73510256" name="PlaceHolder 6"/>
          <p:cNvSpPr>
            <a:spLocks noGrp="1"/>
          </p:cNvSpPr>
          <p:nvPr>
            <p:ph type="dt" idx="1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192793" name="PlaceHolder 1"/>
          <p:cNvSpPr>
            <a:spLocks noGrp="1"/>
          </p:cNvSpPr>
          <p:nvPr>
            <p:ph type="ftr" idx="1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50611314" name="PlaceHolder 2"/>
          <p:cNvSpPr>
            <a:spLocks noGrp="1"/>
          </p:cNvSpPr>
          <p:nvPr>
            <p:ph type="sldNum" idx="20"/>
          </p:nvPr>
        </p:nvSpPr>
        <p:spPr bwMode="auto"/>
        <p:txBody>
          <a:bodyPr/>
          <a:p>
            <a:pPr>
              <a:defRPr/>
            </a:pPr>
            <a:fld id="{42D42DE8-0146-41DB-8234-12FAE3915E5C}" type="slidenum">
              <a:rPr/>
              <a:t>&lt;#&gt;</a:t>
            </a:fld>
            <a:endParaRPr/>
          </a:p>
        </p:txBody>
      </p:sp>
      <p:sp>
        <p:nvSpPr>
          <p:cNvPr id="406210875" name="PlaceHolder 3"/>
          <p:cNvSpPr>
            <a:spLocks noGrp="1"/>
          </p:cNvSpPr>
          <p:nvPr>
            <p:ph type="dt" idx="2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96947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128199" name="PlaceHolder 2"/>
          <p:cNvSpPr>
            <a:spLocks noGrp="1"/>
          </p:cNvSpPr>
          <p:nvPr>
            <p:ph type="ftr" idx="2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01465094" name="PlaceHolder 3"/>
          <p:cNvSpPr>
            <a:spLocks noGrp="1"/>
          </p:cNvSpPr>
          <p:nvPr>
            <p:ph type="sldNum" idx="23"/>
          </p:nvPr>
        </p:nvSpPr>
        <p:spPr bwMode="auto"/>
        <p:txBody>
          <a:bodyPr/>
          <a:p>
            <a:pPr>
              <a:defRPr/>
            </a:pPr>
            <a:fld id="{F41ACAFC-7DF7-48EC-92EB-8F77EB8184A6}" type="slidenum">
              <a:rPr/>
              <a:t>&lt;#&gt;</a:t>
            </a:fld>
            <a:endParaRPr/>
          </a:p>
        </p:txBody>
      </p:sp>
      <p:sp>
        <p:nvSpPr>
          <p:cNvPr id="61735263" name="PlaceHolder 4"/>
          <p:cNvSpPr>
            <a:spLocks noGrp="1"/>
          </p:cNvSpPr>
          <p:nvPr>
            <p:ph type="dt" idx="2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986442" name="PlaceHolder 1"/>
          <p:cNvSpPr>
            <a:spLocks noGrp="1"/>
          </p:cNvSpPr>
          <p:nvPr>
            <p:ph type="ftr" idx="2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64046538" name="PlaceHolder 2"/>
          <p:cNvSpPr>
            <a:spLocks noGrp="1"/>
          </p:cNvSpPr>
          <p:nvPr>
            <p:ph type="sldNum" idx="26"/>
          </p:nvPr>
        </p:nvSpPr>
        <p:spPr bwMode="auto"/>
        <p:txBody>
          <a:bodyPr/>
          <a:p>
            <a:pPr>
              <a:defRPr/>
            </a:pPr>
            <a:fld id="{1CD25F13-4F50-44CD-A52F-44B9C69B78D5}" type="slidenum">
              <a:rPr/>
              <a:t>&lt;#&gt;</a:t>
            </a:fld>
            <a:endParaRPr/>
          </a:p>
        </p:txBody>
      </p:sp>
      <p:sp>
        <p:nvSpPr>
          <p:cNvPr id="8582447" name="PlaceHolder 3"/>
          <p:cNvSpPr>
            <a:spLocks noGrp="1"/>
          </p:cNvSpPr>
          <p:nvPr>
            <p:ph type="dt" idx="2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645889" name="PlaceHolder 1"/>
          <p:cNvSpPr>
            <a:spLocks noGrp="1"/>
          </p:cNvSpPr>
          <p:nvPr>
            <p:ph type="ftr" idx="2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49288761" name="PlaceHolder 2"/>
          <p:cNvSpPr>
            <a:spLocks noGrp="1"/>
          </p:cNvSpPr>
          <p:nvPr>
            <p:ph type="sldNum" idx="29"/>
          </p:nvPr>
        </p:nvSpPr>
        <p:spPr bwMode="auto"/>
        <p:txBody>
          <a:bodyPr/>
          <a:p>
            <a:pPr>
              <a:defRPr/>
            </a:pPr>
            <a:fld id="{93938254-46D6-41D4-A5B9-7A8A08D0E1F5}" type="slidenum">
              <a:rPr/>
              <a:t>&lt;#&gt;</a:t>
            </a:fld>
            <a:endParaRPr/>
          </a:p>
        </p:txBody>
      </p:sp>
      <p:sp>
        <p:nvSpPr>
          <p:cNvPr id="334564383" name="PlaceHolder 3"/>
          <p:cNvSpPr>
            <a:spLocks noGrp="1"/>
          </p:cNvSpPr>
          <p:nvPr>
            <p:ph type="dt" idx="3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299143" name="PlaceHolder 1"/>
          <p:cNvSpPr>
            <a:spLocks noGrp="1"/>
          </p:cNvSpPr>
          <p:nvPr>
            <p:ph type="ftr" idx="3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988537263" name="PlaceHolder 2"/>
          <p:cNvSpPr>
            <a:spLocks noGrp="1"/>
          </p:cNvSpPr>
          <p:nvPr>
            <p:ph type="sldNum" idx="32"/>
          </p:nvPr>
        </p:nvSpPr>
        <p:spPr bwMode="auto"/>
        <p:txBody>
          <a:bodyPr/>
          <a:p>
            <a:pPr>
              <a:defRPr/>
            </a:pPr>
            <a:fld id="{8938039A-DD24-4271-ADA0-E43960B21716}" type="slidenum">
              <a:rPr/>
              <a:t>&lt;#&gt;</a:t>
            </a:fld>
            <a:endParaRPr/>
          </a:p>
        </p:txBody>
      </p:sp>
      <p:sp>
        <p:nvSpPr>
          <p:cNvPr id="1288743866" name="PlaceHolder 3"/>
          <p:cNvSpPr>
            <a:spLocks noGrp="1"/>
          </p:cNvSpPr>
          <p:nvPr>
            <p:ph type="dt" idx="3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98797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525060" name="PlaceHolder 2"/>
          <p:cNvSpPr>
            <a:spLocks noGrp="1"/>
          </p:cNvSpPr>
          <p:nvPr>
            <p:ph type="ftr" idx="1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0209100" name="PlaceHolder 3"/>
          <p:cNvSpPr>
            <a:spLocks noGrp="1"/>
          </p:cNvSpPr>
          <p:nvPr>
            <p:ph type="sldNum" idx="2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09CF442-754B-425C-9136-BB95D66366E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0875657" name="PlaceHolder 4"/>
          <p:cNvSpPr>
            <a:spLocks noGrp="1"/>
          </p:cNvSpPr>
          <p:nvPr>
            <p:ph type="dt" idx="3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311091" name="PlaceHolder 1"/>
          <p:cNvSpPr>
            <a:spLocks noGrp="1"/>
          </p:cNvSpPr>
          <p:nvPr>
            <p:ph type="ftr" idx="4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820738" name="PlaceHolder 2"/>
          <p:cNvSpPr>
            <a:spLocks noGrp="1"/>
          </p:cNvSpPr>
          <p:nvPr>
            <p:ph type="sldNum" idx="5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773624CE-8EC8-47B8-872A-F48E3E81E1D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0669777" name="PlaceHolder 3"/>
          <p:cNvSpPr>
            <a:spLocks noGrp="1"/>
          </p:cNvSpPr>
          <p:nvPr>
            <p:ph type="dt" idx="6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857144" name="PlaceHolder 1"/>
          <p:cNvSpPr>
            <a:spLocks noGrp="1"/>
          </p:cNvSpPr>
          <p:nvPr>
            <p:ph type="ftr" idx="7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511267" name="PlaceHolder 2"/>
          <p:cNvSpPr>
            <a:spLocks noGrp="1"/>
          </p:cNvSpPr>
          <p:nvPr>
            <p:ph type="sldNum" idx="8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43C0B9FB-7EB5-4968-8A86-36E895B3FB6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473416" name="PlaceHolder 3"/>
          <p:cNvSpPr>
            <a:spLocks noGrp="1"/>
          </p:cNvSpPr>
          <p:nvPr>
            <p:ph type="dt" idx="9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05090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868152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9406299" name="PlaceHolder 3"/>
          <p:cNvSpPr>
            <a:spLocks noGrp="1"/>
          </p:cNvSpPr>
          <p:nvPr>
            <p:ph type="ftr" idx="10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709586" name="PlaceHolder 4"/>
          <p:cNvSpPr>
            <a:spLocks noGrp="1"/>
          </p:cNvSpPr>
          <p:nvPr>
            <p:ph type="sldNum" idx="11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FC5D661-AD47-43B1-BF5B-2E6E0F903B47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696528" name="PlaceHolder 5"/>
          <p:cNvSpPr>
            <a:spLocks noGrp="1"/>
          </p:cNvSpPr>
          <p:nvPr>
            <p:ph type="dt" idx="12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874336" name="PlaceHolder 1"/>
          <p:cNvSpPr>
            <a:spLocks noGrp="1"/>
          </p:cNvSpPr>
          <p:nvPr>
            <p:ph type="ftr" idx="13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4155447" name="PlaceHolder 2"/>
          <p:cNvSpPr>
            <a:spLocks noGrp="1"/>
          </p:cNvSpPr>
          <p:nvPr>
            <p:ph type="sldNum" idx="14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5453CCF-EF86-4DA1-8EFD-B61C906A743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629481" name="PlaceHolder 3"/>
          <p:cNvSpPr>
            <a:spLocks noGrp="1"/>
          </p:cNvSpPr>
          <p:nvPr>
            <p:ph type="dt" idx="15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1519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4710793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471826" name="PlaceHolder 3"/>
          <p:cNvSpPr>
            <a:spLocks noGrp="1"/>
          </p:cNvSpPr>
          <p:nvPr>
            <p:ph type="body"/>
          </p:nvPr>
        </p:nvSpPr>
        <p:spPr bwMode="auto"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65234" name="PlaceHolder 4"/>
          <p:cNvSpPr>
            <a:spLocks noGrp="1"/>
          </p:cNvSpPr>
          <p:nvPr>
            <p:ph type="ftr" idx="16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9938902" name="PlaceHolder 5"/>
          <p:cNvSpPr>
            <a:spLocks noGrp="1"/>
          </p:cNvSpPr>
          <p:nvPr>
            <p:ph type="sldNum" idx="17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4CD608D-FBB4-4BE7-A7AD-1EA9E70AEF7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9800411" name="PlaceHolder 6"/>
          <p:cNvSpPr>
            <a:spLocks noGrp="1"/>
          </p:cNvSpPr>
          <p:nvPr>
            <p:ph type="dt" idx="18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915801" name="PlaceHolder 1"/>
          <p:cNvSpPr>
            <a:spLocks noGrp="1"/>
          </p:cNvSpPr>
          <p:nvPr>
            <p:ph type="ftr" idx="19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930547" name="PlaceHolder 2"/>
          <p:cNvSpPr>
            <a:spLocks noGrp="1"/>
          </p:cNvSpPr>
          <p:nvPr>
            <p:ph type="sldNum" idx="20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2C0C457-16CC-418A-82A8-7A3F7A899C2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7634989" name="PlaceHolder 3"/>
          <p:cNvSpPr>
            <a:spLocks noGrp="1"/>
          </p:cNvSpPr>
          <p:nvPr>
            <p:ph type="dt" idx="21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07294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504348" name="PlaceHolder 2"/>
          <p:cNvSpPr>
            <a:spLocks noGrp="1"/>
          </p:cNvSpPr>
          <p:nvPr>
            <p:ph type="ftr" idx="22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4292749" name="PlaceHolder 3"/>
          <p:cNvSpPr>
            <a:spLocks noGrp="1"/>
          </p:cNvSpPr>
          <p:nvPr>
            <p:ph type="sldNum" idx="23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E1A90FD-70C7-498B-91F0-CF7ACFDFF56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768442" name="PlaceHolder 4"/>
          <p:cNvSpPr>
            <a:spLocks noGrp="1"/>
          </p:cNvSpPr>
          <p:nvPr>
            <p:ph type="dt" idx="24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046699" name="PlaceHolder 1"/>
          <p:cNvSpPr>
            <a:spLocks noGrp="1"/>
          </p:cNvSpPr>
          <p:nvPr>
            <p:ph type="ftr" idx="25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5063773" name="PlaceHolder 2"/>
          <p:cNvSpPr>
            <a:spLocks noGrp="1"/>
          </p:cNvSpPr>
          <p:nvPr>
            <p:ph type="sldNum" idx="26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74E15DC-6269-41CD-92BD-8EF3BF608A1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761716" name="PlaceHolder 3"/>
          <p:cNvSpPr>
            <a:spLocks noGrp="1"/>
          </p:cNvSpPr>
          <p:nvPr>
            <p:ph type="dt" idx="27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96153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8860977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522183" name="PlaceHolder 1"/>
          <p:cNvSpPr>
            <a:spLocks noGrp="1"/>
          </p:cNvSpPr>
          <p:nvPr>
            <p:ph type="ftr" idx="28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8060301" name="PlaceHolder 2"/>
          <p:cNvSpPr>
            <a:spLocks noGrp="1"/>
          </p:cNvSpPr>
          <p:nvPr>
            <p:ph type="sldNum" idx="29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C54F4A7E-B9E5-4A98-8057-B320EA9A687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854033" name="PlaceHolder 3"/>
          <p:cNvSpPr>
            <a:spLocks noGrp="1"/>
          </p:cNvSpPr>
          <p:nvPr>
            <p:ph type="dt" idx="30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725074" name="PlaceHolder 1"/>
          <p:cNvSpPr>
            <a:spLocks noGrp="1"/>
          </p:cNvSpPr>
          <p:nvPr>
            <p:ph type="ftr" idx="31"/>
          </p:nvPr>
        </p:nvSpPr>
        <p:spPr bwMode="auto"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3965225" name="PlaceHolder 2"/>
          <p:cNvSpPr>
            <a:spLocks noGrp="1"/>
          </p:cNvSpPr>
          <p:nvPr>
            <p:ph type="sldNum" idx="32"/>
          </p:nvPr>
        </p:nvSpPr>
        <p:spPr bwMode="auto"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CBCB0BD-6489-4A21-B7AE-4139680BDA2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lang="ru-RU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283459" name="PlaceHolder 3"/>
          <p:cNvSpPr>
            <a:spLocks noGrp="1"/>
          </p:cNvSpPr>
          <p:nvPr>
            <p:ph type="dt" idx="33"/>
          </p:nvPr>
        </p:nvSpPr>
        <p:spPr bwMode="auto"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268498" name="TextBox 2"/>
          <p:cNvSpPr/>
          <p:nvPr/>
        </p:nvSpPr>
        <p:spPr bwMode="auto">
          <a:xfrm>
            <a:off x="815008" y="2103119"/>
            <a:ext cx="10332720" cy="8828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600" b="1" strike="noStrike" spc="-1">
                <a:solidFill>
                  <a:srgbClr val="1A3C6E"/>
                </a:solidFill>
                <a:latin typeface="Times New Roman"/>
              </a:rPr>
              <a:t>TB-Lite: воспроизводимый Nextflow-пайплайн</a:t>
            </a:r>
            <a:br>
              <a:rPr sz="2600"/>
            </a:br>
            <a:r>
              <a:rPr lang="en-US" sz="2600" b="1" strike="noStrike" spc="-1">
                <a:solidFill>
                  <a:srgbClr val="1A3C6E"/>
                </a:solidFill>
                <a:latin typeface="Times New Roman"/>
              </a:rPr>
              <a:t>для анализа геномов Mycobacterium tuberculosis</a:t>
            </a: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6985803" name="TextBox 3"/>
          <p:cNvSpPr/>
          <p:nvPr/>
        </p:nvSpPr>
        <p:spPr bwMode="auto">
          <a:xfrm>
            <a:off x="815008" y="3474720"/>
            <a:ext cx="10343519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400" b="0" strike="noStrike" spc="-1">
                <a:solidFill>
                  <a:srgbClr val="2D2D2D"/>
                </a:solidFill>
                <a:latin typeface="Times New Roman"/>
              </a:rPr>
              <a:t>С. И. Киселев</a:t>
            </a:r>
            <a:r>
              <a:rPr lang="en-US" sz="2400" b="0" strike="noStrike" spc="0" baseline="30000">
                <a:solidFill>
                  <a:srgbClr val="2D2D2D"/>
                </a:solidFill>
                <a:latin typeface="Times New Roman"/>
              </a:rPr>
              <a:t>1,2</a:t>
            </a:r>
            <a:r>
              <a:rPr lang="en-US" sz="2400" b="0" strike="noStrike" spc="0">
                <a:solidFill>
                  <a:srgbClr val="2D2D2D"/>
                </a:solidFill>
                <a:latin typeface="Times New Roman"/>
              </a:rPr>
              <a:t>, Е. А. Шитиков</a:t>
            </a:r>
            <a:r>
              <a:rPr lang="en-US" sz="2400" b="0" strike="noStrike" spc="0" baseline="30000">
                <a:solidFill>
                  <a:srgbClr val="2D2D2D"/>
                </a:solidFill>
                <a:latin typeface="Times New Roman"/>
              </a:rPr>
              <a:t>2</a:t>
            </a:r>
            <a:endParaRPr sz="2400" b="0" strike="noStrike" spc="-1" baseline="3000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779085" name="TextBox 4"/>
          <p:cNvSpPr/>
          <p:nvPr/>
        </p:nvSpPr>
        <p:spPr bwMode="auto">
          <a:xfrm>
            <a:off x="1272208" y="4206239"/>
            <a:ext cx="941760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799"/>
              </a:spcAft>
              <a:defRPr/>
            </a:pPr>
            <a:r>
              <a:rPr lang="en-US" sz="1600" b="0" strike="noStrike" spc="-1">
                <a:solidFill>
                  <a:srgbClr val="555555"/>
                </a:solidFill>
                <a:latin typeface="Times New Roman"/>
              </a:rPr>
              <a:t>¹ </a:t>
            </a:r>
            <a:r>
              <a:rPr lang="en-US" sz="1600" b="0" strike="noStrike" spc="-1">
                <a:solidFill>
                  <a:srgbClr val="555555"/>
                </a:solidFill>
                <a:latin typeface="Times New Roman"/>
              </a:rPr>
              <a:t>Московский физико-технический институт (национальный исследовательский университет)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defRPr/>
            </a:pPr>
            <a:r>
              <a:rPr lang="en-US" sz="1600" b="0" strike="noStrike" spc="-1">
                <a:solidFill>
                  <a:srgbClr val="555555"/>
                </a:solidFill>
                <a:latin typeface="Times New Roman"/>
              </a:rPr>
              <a:t>² </a:t>
            </a:r>
            <a:r>
              <a:rPr lang="en-US" sz="1600" b="0" strike="noStrike" spc="-1">
                <a:solidFill>
                  <a:srgbClr val="555555"/>
                </a:solidFill>
                <a:latin typeface="Times New Roman"/>
              </a:rPr>
              <a:t>ФГБУ «Федеральный научно-клинический центр физико-химической медицины</a:t>
            </a:r>
            <a:br>
              <a:rPr sz="1600"/>
            </a:br>
            <a:r>
              <a:rPr lang="en-US" sz="1600" b="0" strike="noStrike" spc="-1">
                <a:solidFill>
                  <a:srgbClr val="555555"/>
                </a:solidFill>
                <a:latin typeface="Times New Roman"/>
              </a:rPr>
              <a:t>им. Ю. М. Лопухина» ФМБА России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310461" name="TextBox 5"/>
          <p:cNvSpPr/>
          <p:nvPr/>
        </p:nvSpPr>
        <p:spPr bwMode="auto">
          <a:xfrm>
            <a:off x="815008" y="6400800"/>
            <a:ext cx="10332720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0" strike="noStrike" spc="-1">
                <a:solidFill>
                  <a:srgbClr val="999999"/>
                </a:solidFill>
                <a:latin typeface="Times New Roman"/>
              </a:rPr>
              <a:t>202</a:t>
            </a:r>
            <a:r>
              <a:rPr lang="ru-RU" sz="2000" b="0" strike="noStrike" spc="0">
                <a:solidFill>
                  <a:srgbClr val="999999"/>
                </a:solidFill>
                <a:latin typeface="Times New Roman"/>
              </a:rPr>
              <a:t>6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2098175" name="TextBox 6"/>
          <p:cNvSpPr/>
          <p:nvPr/>
        </p:nvSpPr>
        <p:spPr bwMode="auto">
          <a:xfrm>
            <a:off x="11160687" y="722376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1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704944" name="TextBox 2"/>
          <p:cNvSpPr/>
          <p:nvPr/>
        </p:nvSpPr>
        <p:spPr bwMode="auto">
          <a:xfrm>
            <a:off x="723899" y="115293"/>
            <a:ext cx="10334159" cy="821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68-я Всероссийская научная конференция МФТИ в честь 130-летия со дня рождения Н.Н. Семёнова</a:t>
            </a:r>
            <a:endParaRPr sz="2400" b="0" strike="noStrike" spc="0">
              <a:solidFill>
                <a:schemeClr val="tx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66052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6726722" name="TextBox 2"/>
          <p:cNvSpPr/>
          <p:nvPr/>
        </p:nvSpPr>
        <p:spPr bwMode="auto">
          <a:xfrm>
            <a:off x="4504680" y="228600"/>
            <a:ext cx="2785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Актуальность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00602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7859725" name="TextBox 4"/>
          <p:cNvSpPr/>
          <p:nvPr/>
        </p:nvSpPr>
        <p:spPr bwMode="auto">
          <a:xfrm>
            <a:off x="640080" y="1097280"/>
            <a:ext cx="5028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2E5EA8"/>
                </a:solidFill>
                <a:latin typeface="Times New Roman"/>
              </a:rPr>
              <a:t>Туберкулёз: масштаб проблемы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149656" name="TextBox 5"/>
          <p:cNvSpPr/>
          <p:nvPr/>
        </p:nvSpPr>
        <p:spPr bwMode="auto">
          <a:xfrm>
            <a:off x="640080" y="1508759"/>
            <a:ext cx="5303160" cy="18002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ru-RU" sz="1700" b="0" strike="noStrike" spc="-1">
                <a:solidFill>
                  <a:srgbClr val="2D2D2D"/>
                </a:solidFill>
                <a:latin typeface="Times New Roman"/>
              </a:rPr>
              <a:t>Инфекционное </a:t>
            </a:r>
            <a:r>
              <a:rPr lang="en-US" sz="1700" b="0" strike="noStrike" spc="0">
                <a:solidFill>
                  <a:srgbClr val="2D2D2D"/>
                </a:solidFill>
                <a:latin typeface="Times New Roman"/>
              </a:rPr>
              <a:t>заболевание, вызываемое</a:t>
            </a:r>
            <a:br>
              <a:rPr sz="1700"/>
            </a:b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микобактериями туберкулёзного комплекса (MTBC)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7,5 млн новых случаев, 1,3 млн смертей</a:t>
            </a:r>
            <a:br>
              <a:rPr sz="1700"/>
            </a:b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ежегодно (ВОЗ, 2024)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Распространение лекарственно-устойчивых форм</a:t>
            </a:r>
            <a:br>
              <a:rPr sz="1700"/>
            </a:b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осложняет контроль инфекции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404503" name="TextBox 6"/>
          <p:cNvSpPr/>
          <p:nvPr/>
        </p:nvSpPr>
        <p:spPr bwMode="auto">
          <a:xfrm>
            <a:off x="6388210" y="1097280"/>
            <a:ext cx="50284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2E5EA8"/>
                </a:solidFill>
                <a:latin typeface="Times New Roman"/>
              </a:rPr>
              <a:t>Генетические особенности MTBC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0261692" name="TextBox 7"/>
          <p:cNvSpPr/>
          <p:nvPr/>
        </p:nvSpPr>
        <p:spPr bwMode="auto">
          <a:xfrm flipH="0" flipV="0">
            <a:off x="6388210" y="1508759"/>
            <a:ext cx="5803549" cy="135508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Геном ~4,4 м.п.о., GC-состав 65%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Клональная структура популяции, нет ГПГ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Частота мутаций: 0,3–0,5 SNP на геном в год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Сходство нуклеотидных последовательностей &gt;99,5%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23569" name="TextBox 8"/>
          <p:cNvSpPr/>
          <p:nvPr/>
        </p:nvSpPr>
        <p:spPr bwMode="auto">
          <a:xfrm flipH="0" flipV="0">
            <a:off x="2672557" y="3845759"/>
            <a:ext cx="6541364" cy="4256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2E5EA8"/>
                </a:solidFill>
                <a:latin typeface="Times New Roman"/>
              </a:rPr>
              <a:t>Полногеномное секвенирование — «всё в одном»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0100462" name="TextBox 9"/>
          <p:cNvSpPr/>
          <p:nvPr/>
        </p:nvSpPr>
        <p:spPr bwMode="auto">
          <a:xfrm flipH="0" flipV="0">
            <a:off x="3291659" y="4266119"/>
            <a:ext cx="5456342" cy="161416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Молекулярное типирование (линии, сполиготипы)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Маркеры лекарственной устойчивости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Популяционно-геномные исследования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Заменяет традиционные методы:</a:t>
            </a:r>
            <a:br>
              <a:rPr sz="1700"/>
            </a:b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  IS6110-RFLP, MIRU-VNTR, сполиготипирование, LSP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04605" name="TextBox 13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2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69564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0516229" name="TextBox 2"/>
          <p:cNvSpPr/>
          <p:nvPr/>
        </p:nvSpPr>
        <p:spPr bwMode="auto">
          <a:xfrm>
            <a:off x="4506480" y="228600"/>
            <a:ext cx="27820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Цель и задачи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746899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6471861" name="TextBox 5"/>
          <p:cNvSpPr/>
          <p:nvPr/>
        </p:nvSpPr>
        <p:spPr bwMode="auto">
          <a:xfrm>
            <a:off x="640080" y="1188720"/>
            <a:ext cx="100576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1A3C6E"/>
                </a:solidFill>
                <a:latin typeface="Times New Roman"/>
              </a:rPr>
              <a:t>Цель работы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094603" name="TextBox 6"/>
          <p:cNvSpPr/>
          <p:nvPr/>
        </p:nvSpPr>
        <p:spPr bwMode="auto">
          <a:xfrm>
            <a:off x="777240" y="1508759"/>
            <a:ext cx="100576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000" b="0" i="1" strike="noStrike" spc="-1">
                <a:solidFill>
                  <a:srgbClr val="2D2D2D"/>
                </a:solidFill>
                <a:latin typeface="Times New Roman"/>
              </a:rPr>
              <a:t>Разработка и апробация пайплайна TB-Lite для автоматизированной</a:t>
            </a:r>
            <a:br>
              <a:rPr sz="2000"/>
            </a:br>
            <a:r>
              <a:rPr lang="en-US" sz="2000" b="0" i="1" strike="noStrike" spc="-1">
                <a:solidFill>
                  <a:srgbClr val="2D2D2D"/>
                </a:solidFill>
                <a:latin typeface="Times New Roman"/>
              </a:rPr>
              <a:t>обработки данных полногеномного секвенирования Mycobacterium tuberculosis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75367" name="TextBox 7"/>
          <p:cNvSpPr/>
          <p:nvPr/>
        </p:nvSpPr>
        <p:spPr bwMode="auto">
          <a:xfrm>
            <a:off x="640080" y="2468880"/>
            <a:ext cx="45712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1A3C6E"/>
                </a:solidFill>
                <a:latin typeface="Times New Roman"/>
              </a:rPr>
              <a:t>Задачи: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658251" name="TextBox 8"/>
          <p:cNvSpPr/>
          <p:nvPr/>
        </p:nvSpPr>
        <p:spPr bwMode="auto">
          <a:xfrm>
            <a:off x="640080" y="2880360"/>
            <a:ext cx="10515959" cy="3382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83879" indent="-283879">
              <a:lnSpc>
                <a:spcPct val="150000"/>
              </a:lnSpc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Разработать воспроизводимый и масштабируемый биоинформатический пайплайн для анализа данных WGS Mycobacterium tuberculosis на базе Nextflow.</a:t>
            </a:r>
            <a:endParaRPr lang="en-US" sz="1800" b="0" i="0" u="none" strike="noStrike" cap="none" spc="0">
              <a:solidFill>
                <a:srgbClr val="2D2D2D"/>
              </a:solidFill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Обеспечить автоматизированную и унифицированную обработку геномных данных с получением стандартизированных выходных результатов, пригодных для последующего анализа.</a:t>
            </a:r>
            <a:endParaRPr lang="en-US" sz="1800" b="0" i="0" u="none" strike="noStrike" cap="none" spc="0">
              <a:solidFill>
                <a:srgbClr val="2D2D2D"/>
              </a:solidFill>
              <a:latin typeface="Times New Roman"/>
              <a:cs typeface="Times New Roman"/>
            </a:endParaRPr>
          </a:p>
          <a:p>
            <a:pPr marL="283879" indent="-283879">
              <a:lnSpc>
                <a:spcPct val="150000"/>
              </a:lnSpc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Применить разработанный пайплайн к крупной выборке геномов и сформировать репрезентативный набор данных по филогенетическому разнообразию и лекарственной устойчивости.</a:t>
            </a:r>
            <a:endParaRPr lang="en-US" sz="1800" b="0" i="0" u="none" strike="noStrike" cap="none" spc="0">
              <a:solidFill>
                <a:srgbClr val="2D2D2D"/>
              </a:solidFill>
              <a:latin typeface="Times New Roman"/>
              <a:cs typeface="Times New Roman"/>
            </a:endParaRPr>
          </a:p>
          <a:p>
            <a:pPr marL="283879" indent="-283879" defTabSz="457200">
              <a:lnSpc>
                <a:spcPct val="150000"/>
              </a:lnSpc>
              <a:spcAft>
                <a:spcPts val="1001"/>
              </a:spcAft>
              <a:buAutoNum type="arabicPeriod"/>
              <a:defRPr/>
            </a:pPr>
            <a:r>
              <a:rPr lang="en-US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Оценить эффективность пайплайна и его применимость для популяционно-геномных и эпидемиологических исследований.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686738" name="TextBox 9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3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147436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5384635" name="TextBox 2"/>
          <p:cNvSpPr/>
          <p:nvPr/>
        </p:nvSpPr>
        <p:spPr bwMode="auto">
          <a:xfrm>
            <a:off x="3444120" y="228600"/>
            <a:ext cx="4906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TB-Lite: обзор пайплайна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782893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8554044" name="TextBox 4"/>
          <p:cNvSpPr/>
          <p:nvPr/>
        </p:nvSpPr>
        <p:spPr bwMode="auto">
          <a:xfrm>
            <a:off x="640080" y="960120"/>
            <a:ext cx="1005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0" i="1" strike="noStrike" spc="-1">
                <a:solidFill>
                  <a:srgbClr val="555555"/>
                </a:solidFill>
                <a:latin typeface="Times New Roman"/>
              </a:rPr>
              <a:t>Nextflow-пайплайн для геномного анализа Mycobacterium tuberculosis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107980" name="TextBox 5"/>
          <p:cNvSpPr/>
          <p:nvPr/>
        </p:nvSpPr>
        <p:spPr bwMode="auto">
          <a:xfrm>
            <a:off x="640080" y="1413012"/>
            <a:ext cx="5302800" cy="248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8 этапов, 26 процессов — модульная DSL2-архитектура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Вход: FASTQ (paired-end / single-end)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Референс: H37Rv (NC_000962.3)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Трёхуровневая фильтрация</a:t>
            </a:r>
            <a:br>
              <a:rPr sz="1700"/>
            </a:b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  (покрытие, выравнивание, контаминация)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Детекция смешанных инфекций (TB-Mix)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Когортный анализ при &gt; 1 образце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433119" name="TextBox 6"/>
          <p:cNvSpPr/>
          <p:nvPr/>
        </p:nvSpPr>
        <p:spPr bwMode="auto">
          <a:xfrm>
            <a:off x="6400800" y="1413012"/>
            <a:ext cx="5029559" cy="3646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chemeClr val="tx1"/>
                </a:solidFill>
                <a:latin typeface="Times New Roman"/>
              </a:rPr>
              <a:t>Результаты </a:t>
            </a:r>
            <a:r>
              <a:rPr lang="en-US" sz="1800" b="1" strike="noStrike" spc="0">
                <a:solidFill>
                  <a:schemeClr val="tx1"/>
                </a:solidFill>
                <a:latin typeface="Times New Roman"/>
              </a:rPr>
              <a:t>анализа:</a:t>
            </a:r>
            <a:endParaRPr sz="1800" b="0" strike="noStrike" spc="-1">
              <a:solidFill>
                <a:schemeClr val="tx1"/>
              </a:solidFill>
              <a:latin typeface="Arial"/>
            </a:endParaRPr>
          </a:p>
        </p:txBody>
      </p:sp>
      <p:sp>
        <p:nvSpPr>
          <p:cNvPr id="2016703332" name="TextBox 7"/>
          <p:cNvSpPr/>
          <p:nvPr/>
        </p:nvSpPr>
        <p:spPr bwMode="auto">
          <a:xfrm>
            <a:off x="6400800" y="1778772"/>
            <a:ext cx="5029199" cy="2019131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Филогенетическая линия (TBLG: L1–L7)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Споли</a:t>
            </a:r>
            <a:r>
              <a:rPr lang="ru-RU" sz="1700" b="0" strike="noStrike" spc="0">
                <a:solidFill>
                  <a:srgbClr val="2D2D2D"/>
                </a:solidFill>
                <a:latin typeface="Times New Roman"/>
              </a:rPr>
              <a:t>г</a:t>
            </a:r>
            <a:r>
              <a:rPr lang="en-US" sz="1700" b="0" strike="noStrike" spc="0">
                <a:solidFill>
                  <a:srgbClr val="2D2D2D"/>
                </a:solidFill>
                <a:latin typeface="Times New Roman"/>
              </a:rPr>
              <a:t>отип (SpoTyping)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Лекарственная устойчивость (TB-Profiler)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Регионы делеций RD (RD-анализ)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Позиции IS6110 (ISMapper)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700" b="0" strike="noStrike" spc="-1">
                <a:solidFill>
                  <a:srgbClr val="2D2D2D"/>
                </a:solidFill>
                <a:latin typeface="Times New Roman"/>
              </a:rPr>
              <a:t>Итоговые таблицы: XLSX, TSV</a:t>
            </a:r>
            <a:endParaRPr lang="ru-RU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69549" name="TextBox 18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4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3527839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9500695" name="TextBox 2"/>
          <p:cNvSpPr/>
          <p:nvPr/>
        </p:nvSpPr>
        <p:spPr bwMode="auto">
          <a:xfrm>
            <a:off x="3550680" y="228600"/>
            <a:ext cx="4693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Архитектура пайплайна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9984457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0789096" name="Rounded Rectangle 4"/>
          <p:cNvSpPr/>
          <p:nvPr/>
        </p:nvSpPr>
        <p:spPr bwMode="auto">
          <a:xfrm flipH="0" flipV="0">
            <a:off x="83673" y="2651760"/>
            <a:ext cx="1470085" cy="9131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9339452" name="TextBox 5"/>
          <p:cNvSpPr/>
          <p:nvPr/>
        </p:nvSpPr>
        <p:spPr bwMode="auto">
          <a:xfrm flipH="0" flipV="0">
            <a:off x="515840" y="2646581"/>
            <a:ext cx="653042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вход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6220962" name="TextBox 6"/>
          <p:cNvSpPr/>
          <p:nvPr/>
        </p:nvSpPr>
        <p:spPr bwMode="auto">
          <a:xfrm flipH="0" flipV="0">
            <a:off x="274320" y="2918373"/>
            <a:ext cx="1102348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555555"/>
                </a:solidFill>
                <a:latin typeface="Times New Roman"/>
              </a:rPr>
              <a:t>FASTQ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0069801" name="TextBox 7"/>
          <p:cNvSpPr/>
          <p:nvPr/>
        </p:nvSpPr>
        <p:spPr bwMode="auto">
          <a:xfrm>
            <a:off x="199776" y="3251629"/>
            <a:ext cx="1282319" cy="2732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входные данные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157523" name="Rounded Rectangle 8"/>
          <p:cNvSpPr/>
          <p:nvPr/>
        </p:nvSpPr>
        <p:spPr bwMode="auto">
          <a:xfrm flipH="0" flipV="0">
            <a:off x="1691639" y="2651760"/>
            <a:ext cx="1804468" cy="9511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5879178" name="TextBox 9"/>
          <p:cNvSpPr/>
          <p:nvPr/>
        </p:nvSpPr>
        <p:spPr bwMode="auto">
          <a:xfrm flipH="0" flipV="0">
            <a:off x="2379184" y="2656066"/>
            <a:ext cx="405427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1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759242" name="TextBox 10"/>
          <p:cNvSpPr/>
          <p:nvPr/>
        </p:nvSpPr>
        <p:spPr bwMode="auto">
          <a:xfrm flipH="0" flipV="0">
            <a:off x="1691640" y="2853000"/>
            <a:ext cx="1859759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78B4A"/>
                </a:solidFill>
                <a:latin typeface="Times New Roman"/>
              </a:rPr>
              <a:t>TRIMMING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97201" name="TextBox 11"/>
          <p:cNvSpPr/>
          <p:nvPr/>
        </p:nvSpPr>
        <p:spPr bwMode="auto">
          <a:xfrm flipH="0" flipV="0">
            <a:off x="2249973" y="3155039"/>
            <a:ext cx="641879" cy="2732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fastp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1818168" name="Rounded Rectangle 12"/>
          <p:cNvSpPr/>
          <p:nvPr/>
        </p:nvSpPr>
        <p:spPr bwMode="auto">
          <a:xfrm flipH="0" flipV="0">
            <a:off x="1573552" y="3990863"/>
            <a:ext cx="2016692" cy="132657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252083" name="TextBox 13"/>
          <p:cNvSpPr/>
          <p:nvPr/>
        </p:nvSpPr>
        <p:spPr bwMode="auto">
          <a:xfrm flipH="0" flipV="0">
            <a:off x="2352218" y="4065881"/>
            <a:ext cx="396425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3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7231510" name="TextBox 14"/>
          <p:cNvSpPr/>
          <p:nvPr/>
        </p:nvSpPr>
        <p:spPr bwMode="auto">
          <a:xfrm flipH="0" flipV="0">
            <a:off x="1731396" y="4310903"/>
            <a:ext cx="1630259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D2D2D"/>
                </a:solidFill>
                <a:latin typeface="Times New Roman"/>
              </a:rPr>
              <a:t>MAPPING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621772" name="TextBox 15"/>
          <p:cNvSpPr/>
          <p:nvPr/>
        </p:nvSpPr>
        <p:spPr bwMode="auto">
          <a:xfrm flipH="0" flipV="0">
            <a:off x="1614965" y="4654149"/>
            <a:ext cx="1870930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BWA-mem, samtools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Picard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821108" name="Rounded Rectangle 16"/>
          <p:cNvSpPr/>
          <p:nvPr/>
        </p:nvSpPr>
        <p:spPr bwMode="auto">
          <a:xfrm flipH="0" flipV="0">
            <a:off x="3830540" y="4014479"/>
            <a:ext cx="1650146" cy="13029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0173603" name="TextBox 17"/>
          <p:cNvSpPr/>
          <p:nvPr/>
        </p:nvSpPr>
        <p:spPr bwMode="auto">
          <a:xfrm flipH="0" flipV="0">
            <a:off x="4451474" y="4065881"/>
            <a:ext cx="408278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4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964286" name="TextBox 18"/>
          <p:cNvSpPr/>
          <p:nvPr/>
        </p:nvSpPr>
        <p:spPr bwMode="auto">
          <a:xfrm>
            <a:off x="4014453" y="4270797"/>
            <a:ext cx="1282319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E67E22"/>
                </a:solidFill>
                <a:latin typeface="Times New Roman"/>
              </a:rPr>
              <a:t>FILTER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08789" name="TextBox 19"/>
          <p:cNvSpPr/>
          <p:nvPr/>
        </p:nvSpPr>
        <p:spPr bwMode="auto">
          <a:xfrm>
            <a:off x="4014453" y="4790259"/>
            <a:ext cx="1282319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TB-Mix, Picard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samtools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1220467" name="Rounded Rectangle 20"/>
          <p:cNvSpPr/>
          <p:nvPr/>
        </p:nvSpPr>
        <p:spPr bwMode="auto">
          <a:xfrm flipH="0" flipV="0">
            <a:off x="3781838" y="2624110"/>
            <a:ext cx="1781673" cy="978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845144" name="TextBox 21"/>
          <p:cNvSpPr/>
          <p:nvPr/>
        </p:nvSpPr>
        <p:spPr bwMode="auto">
          <a:xfrm flipH="0" flipV="0">
            <a:off x="4552100" y="2645013"/>
            <a:ext cx="323976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5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927411" name="TextBox 22"/>
          <p:cNvSpPr/>
          <p:nvPr/>
        </p:nvSpPr>
        <p:spPr bwMode="auto">
          <a:xfrm flipH="0" flipV="0">
            <a:off x="3913366" y="2842345"/>
            <a:ext cx="1554722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D2D2D"/>
                </a:solidFill>
                <a:latin typeface="Times New Roman"/>
              </a:rPr>
              <a:t>CALL VAR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8700276" name="TextBox 23"/>
          <p:cNvSpPr/>
          <p:nvPr/>
        </p:nvSpPr>
        <p:spPr bwMode="auto">
          <a:xfrm flipH="0" flipV="0">
            <a:off x="3828114" y="3155798"/>
            <a:ext cx="1694705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Freebayes, SnpEff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BCFtools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136249" name="Rounded Rectangle 24"/>
          <p:cNvSpPr/>
          <p:nvPr/>
        </p:nvSpPr>
        <p:spPr bwMode="auto">
          <a:xfrm flipH="0" flipV="0">
            <a:off x="6185676" y="2614653"/>
            <a:ext cx="2081214" cy="98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8755993" name="TextBox 25"/>
          <p:cNvSpPr/>
          <p:nvPr/>
        </p:nvSpPr>
        <p:spPr bwMode="auto">
          <a:xfrm flipH="0" flipV="0">
            <a:off x="7033480" y="2614653"/>
            <a:ext cx="385606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6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655986" name="TextBox 26"/>
          <p:cNvSpPr/>
          <p:nvPr/>
        </p:nvSpPr>
        <p:spPr bwMode="auto">
          <a:xfrm flipH="0" flipV="0">
            <a:off x="6269947" y="2807926"/>
            <a:ext cx="1931402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D2D2D"/>
                </a:solidFill>
                <a:latin typeface="Times New Roman"/>
              </a:rPr>
              <a:t>GENOTYPING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817201" name="TextBox 27"/>
          <p:cNvSpPr/>
          <p:nvPr/>
        </p:nvSpPr>
        <p:spPr bwMode="auto">
          <a:xfrm flipH="0" flipV="0">
            <a:off x="5911005" y="3108794"/>
            <a:ext cx="2668320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TBLG, SpoTyping, Mosdepth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TB-Profiler, RD, ISMapper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8253033" name="Rounded Rectangle 28"/>
          <p:cNvSpPr/>
          <p:nvPr/>
        </p:nvSpPr>
        <p:spPr bwMode="auto">
          <a:xfrm flipH="0" flipV="0">
            <a:off x="9163800" y="2527520"/>
            <a:ext cx="2192504" cy="114167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7939579" name="TextBox 29"/>
          <p:cNvSpPr/>
          <p:nvPr/>
        </p:nvSpPr>
        <p:spPr bwMode="auto">
          <a:xfrm flipH="0" flipV="0">
            <a:off x="10033113" y="2536134"/>
            <a:ext cx="536702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7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012157" name="TextBox 30"/>
          <p:cNvSpPr/>
          <p:nvPr/>
        </p:nvSpPr>
        <p:spPr bwMode="auto">
          <a:xfrm flipH="0" flipV="0">
            <a:off x="9384148" y="2762206"/>
            <a:ext cx="1812224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78B4A"/>
                </a:solidFill>
                <a:latin typeface="Times New Roman"/>
              </a:rPr>
              <a:t>REPORTS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3154831" name="TextBox 31"/>
          <p:cNvSpPr/>
          <p:nvPr/>
        </p:nvSpPr>
        <p:spPr bwMode="auto">
          <a:xfrm flipH="0" flipV="0">
            <a:off x="9333015" y="3109500"/>
            <a:ext cx="1932899" cy="45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MultiQC, FINAL_TABLE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TB_PLATFORM_TABLES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949283" name="Rounded Rectangle 32"/>
          <p:cNvSpPr/>
          <p:nvPr/>
        </p:nvSpPr>
        <p:spPr bwMode="auto">
          <a:xfrm flipH="0" flipV="0">
            <a:off x="3550680" y="1196766"/>
            <a:ext cx="1483680" cy="96442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5EA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6902973" name="TextBox 33"/>
          <p:cNvSpPr/>
          <p:nvPr/>
        </p:nvSpPr>
        <p:spPr bwMode="auto">
          <a:xfrm flipH="0" flipV="0">
            <a:off x="4157292" y="1234440"/>
            <a:ext cx="313324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2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038600" name="TextBox 34"/>
          <p:cNvSpPr/>
          <p:nvPr/>
        </p:nvSpPr>
        <p:spPr bwMode="auto">
          <a:xfrm flipH="0" flipV="0">
            <a:off x="3984285" y="1427712"/>
            <a:ext cx="641879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E5EA8"/>
                </a:solidFill>
                <a:latin typeface="Times New Roman"/>
              </a:rPr>
              <a:t>QC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214177" name="TextBox 35"/>
          <p:cNvSpPr/>
          <p:nvPr/>
        </p:nvSpPr>
        <p:spPr bwMode="auto">
          <a:xfrm>
            <a:off x="3692773" y="1830010"/>
            <a:ext cx="1282319" cy="2732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FastQC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3443128" name="Rounded Rectangle 36"/>
          <p:cNvSpPr/>
          <p:nvPr/>
        </p:nvSpPr>
        <p:spPr bwMode="auto">
          <a:xfrm flipH="0" flipV="0">
            <a:off x="6143295" y="4297680"/>
            <a:ext cx="2197896" cy="10197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5EA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26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185993" name="TextBox 37"/>
          <p:cNvSpPr/>
          <p:nvPr/>
        </p:nvSpPr>
        <p:spPr bwMode="auto">
          <a:xfrm flipH="0" flipV="0">
            <a:off x="6933828" y="4250880"/>
            <a:ext cx="518402" cy="3037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0" strike="noStrike" spc="-1">
                <a:solidFill>
                  <a:srgbClr val="999999"/>
                </a:solidFill>
                <a:latin typeface="Times New Roman"/>
              </a:rPr>
              <a:t>8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1311939" name="TextBox 38"/>
          <p:cNvSpPr/>
          <p:nvPr/>
        </p:nvSpPr>
        <p:spPr bwMode="auto">
          <a:xfrm flipH="0" flipV="0">
            <a:off x="6291925" y="4445125"/>
            <a:ext cx="1802206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000" b="1" strike="noStrike" spc="-1">
                <a:solidFill>
                  <a:srgbClr val="2E5EA8"/>
                </a:solidFill>
                <a:latin typeface="Times New Roman"/>
              </a:rPr>
              <a:t>ANN_TABLE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329740" name="TextBox 39"/>
          <p:cNvSpPr/>
          <p:nvPr/>
        </p:nvSpPr>
        <p:spPr bwMode="auto">
          <a:xfrm flipH="0" flipV="0">
            <a:off x="6101882" y="4881698"/>
            <a:ext cx="2265119" cy="2732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bcftools merge</a:t>
            </a:r>
            <a:r>
              <a:rPr lang="ru-RU" sz="1200" b="0" strike="noStrike" spc="0">
                <a:solidFill>
                  <a:srgbClr val="555555"/>
                </a:solidFill>
                <a:latin typeface="Times New Roman"/>
              </a:rPr>
              <a:t>, </a:t>
            </a: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SnpEff, SnpSift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7367840" name="Connector 40"/>
          <p:cNvCxnSpPr/>
          <p:nvPr/>
        </p:nvCxnSpPr>
        <p:spPr bwMode="auto">
          <a:xfrm>
            <a:off x="1554480" y="3040200"/>
            <a:ext cx="137880" cy="720"/>
          </a:xfrm>
          <a:prstGeom prst="straightConnector1">
            <a:avLst/>
          </a:prstGeom>
          <a:ln w="0">
            <a:solidFill>
              <a:srgbClr val="278B4A"/>
            </a:solidFill>
          </a:ln>
        </p:spPr>
      </p:cxnSp>
      <p:sp>
        <p:nvSpPr>
          <p:cNvPr id="491705505" name="TextBox 54"/>
          <p:cNvSpPr/>
          <p:nvPr/>
        </p:nvSpPr>
        <p:spPr bwMode="auto">
          <a:xfrm flipH="0" flipV="0">
            <a:off x="5853404" y="3929261"/>
            <a:ext cx="981315" cy="2732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&gt; 1 sample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3002248" name="TextBox 61"/>
          <p:cNvSpPr/>
          <p:nvPr/>
        </p:nvSpPr>
        <p:spPr bwMode="auto">
          <a:xfrm>
            <a:off x="11026437" y="6492240"/>
            <a:ext cx="758521" cy="3951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2000" b="0" strike="noStrike" spc="-1">
                <a:solidFill>
                  <a:srgbClr val="999999"/>
                </a:solidFill>
                <a:latin typeface="Times New Roman"/>
              </a:rPr>
              <a:t>5 / 11</a:t>
            </a: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26355996" name=""/>
          <p:cNvCxnSpPr>
            <a:stCxn id="1627157523" idx="0"/>
            <a:endCxn id="1165949283" idx="1"/>
          </p:cNvCxnSpPr>
          <p:nvPr/>
        </p:nvCxnSpPr>
        <p:spPr bwMode="auto">
          <a:xfrm rot="16199999" flipH="0" flipV="0">
            <a:off x="2585886" y="1686966"/>
            <a:ext cx="972779" cy="956805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2085237455" name=""/>
          <p:cNvCxnSpPr>
            <a:stCxn id="1165949283" idx="3"/>
            <a:endCxn id="2088253033" idx="0"/>
          </p:cNvCxnSpPr>
          <p:nvPr/>
        </p:nvCxnSpPr>
        <p:spPr bwMode="auto">
          <a:xfrm rot="0" flipH="0" flipV="0">
            <a:off x="5034360" y="1678979"/>
            <a:ext cx="5225690" cy="848540"/>
          </a:xfrm>
          <a:prstGeom prst="bentConnector2">
            <a:avLst/>
          </a:prstGeom>
          <a:ln w="0">
            <a:solidFill>
              <a:srgbClr val="3465A4"/>
            </a:solidFill>
          </a:ln>
        </p:spPr>
      </p:cxnSp>
      <p:cxnSp>
        <p:nvCxnSpPr>
          <p:cNvPr id="1285015106" name=""/>
          <p:cNvCxnSpPr>
            <a:stCxn id="1961818168" idx="0"/>
            <a:endCxn id="1627157523" idx="2"/>
          </p:cNvCxnSpPr>
          <p:nvPr/>
        </p:nvCxnSpPr>
        <p:spPr bwMode="auto">
          <a:xfrm rot="16199999" flipH="0" flipV="0">
            <a:off x="2393922" y="3796899"/>
            <a:ext cx="387928" cy="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964010791" name=""/>
          <p:cNvCxnSpPr>
            <a:stCxn id="1961818168" idx="3"/>
            <a:endCxn id="524821108" idx="1"/>
          </p:cNvCxnSpPr>
          <p:nvPr/>
        </p:nvCxnSpPr>
        <p:spPr bwMode="auto">
          <a:xfrm rot="0" flipH="0" flipV="0">
            <a:off x="3590245" y="4660053"/>
            <a:ext cx="240295" cy="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1238259096" name=""/>
          <p:cNvCxnSpPr>
            <a:stCxn id="2141220467" idx="2"/>
            <a:endCxn id="524821108" idx="0"/>
          </p:cNvCxnSpPr>
          <p:nvPr/>
        </p:nvCxnSpPr>
        <p:spPr bwMode="auto">
          <a:xfrm rot="5400000" flipH="0" flipV="0">
            <a:off x="4458372" y="3808707"/>
            <a:ext cx="411545" cy="0"/>
          </a:xfrm>
          <a:prstGeom prst="bentConnector3">
            <a:avLst>
              <a:gd name="adj1" fmla="val 54339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1623542407" name=""/>
          <p:cNvCxnSpPr>
            <a:stCxn id="2141220467" idx="3"/>
            <a:endCxn id="1564136249" idx="1"/>
          </p:cNvCxnSpPr>
          <p:nvPr/>
        </p:nvCxnSpPr>
        <p:spPr bwMode="auto">
          <a:xfrm rot="0" flipH="0" flipV="1">
            <a:off x="5563512" y="3111158"/>
            <a:ext cx="622163" cy="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2073458097" name=""/>
          <p:cNvCxnSpPr>
            <a:stCxn id="2141220467" idx="3"/>
            <a:endCxn id="1893443128" idx="1"/>
          </p:cNvCxnSpPr>
          <p:nvPr/>
        </p:nvCxnSpPr>
        <p:spPr bwMode="auto">
          <a:xfrm rot="0" flipH="0" flipV="0">
            <a:off x="5563512" y="3113522"/>
            <a:ext cx="579782" cy="1694034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  <p:cxnSp>
        <p:nvCxnSpPr>
          <p:cNvPr id="385216650" name=""/>
          <p:cNvCxnSpPr>
            <a:stCxn id="1564136249" idx="3"/>
            <a:endCxn id="2088253033" idx="1"/>
          </p:cNvCxnSpPr>
          <p:nvPr/>
        </p:nvCxnSpPr>
        <p:spPr bwMode="auto">
          <a:xfrm rot="0" flipH="0" flipV="1">
            <a:off x="8266890" y="3103576"/>
            <a:ext cx="896908" cy="0"/>
          </a:xfrm>
          <a:prstGeom prst="bentConnector3">
            <a:avLst>
              <a:gd name="adj1" fmla="val 50000"/>
            </a:avLst>
          </a:prstGeom>
          <a:ln w="0">
            <a:solidFill>
              <a:srgbClr val="3465A4"/>
            </a:solidFill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3856467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1403225" name="TextBox 2"/>
          <p:cNvSpPr/>
          <p:nvPr/>
        </p:nvSpPr>
        <p:spPr bwMode="auto">
          <a:xfrm>
            <a:off x="2694240" y="228600"/>
            <a:ext cx="64062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Контроль качества и фильтрация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035348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4554352" name="Rounded Rectangle 4"/>
          <p:cNvSpPr/>
          <p:nvPr/>
        </p:nvSpPr>
        <p:spPr bwMode="auto">
          <a:xfrm>
            <a:off x="457200" y="1097280"/>
            <a:ext cx="301680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2536509" name="TextBox 5"/>
          <p:cNvSpPr/>
          <p:nvPr/>
        </p:nvSpPr>
        <p:spPr bwMode="auto">
          <a:xfrm>
            <a:off x="594360" y="1143000"/>
            <a:ext cx="2742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2E5EA8"/>
                </a:solidFill>
                <a:latin typeface="Times New Roman"/>
              </a:rPr>
              <a:t>BAM-файл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529746" name="TextBox 6"/>
          <p:cNvSpPr/>
          <p:nvPr/>
        </p:nvSpPr>
        <p:spPr bwMode="auto">
          <a:xfrm>
            <a:off x="594360" y="1417320"/>
            <a:ext cx="274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Картированные риды</a:t>
            </a:r>
            <a:br>
              <a:rPr sz="1200"/>
            </a:b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BWA-mem + Picard MarkDups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383677" name="Rounded Rectangle 7"/>
          <p:cNvSpPr/>
          <p:nvPr/>
        </p:nvSpPr>
        <p:spPr bwMode="auto">
          <a:xfrm>
            <a:off x="4114800" y="1097280"/>
            <a:ext cx="301680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1536196" name="TextBox 8"/>
          <p:cNvSpPr/>
          <p:nvPr/>
        </p:nvSpPr>
        <p:spPr bwMode="auto">
          <a:xfrm>
            <a:off x="4251960" y="1143000"/>
            <a:ext cx="2742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2E5EA8"/>
                </a:solidFill>
                <a:latin typeface="Times New Roman"/>
              </a:rPr>
              <a:t>3 модуля параллельно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597240" name="TextBox 9"/>
          <p:cNvSpPr/>
          <p:nvPr/>
        </p:nvSpPr>
        <p:spPr bwMode="auto">
          <a:xfrm>
            <a:off x="4251960" y="1417320"/>
            <a:ext cx="2742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Picard WGS</a:t>
            </a:r>
            <a:br>
              <a:rPr sz="1200"/>
            </a:b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Samtools stats</a:t>
            </a:r>
            <a:br>
              <a:rPr sz="1200"/>
            </a:b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TB-Mix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400606" name="Rounded Rectangle 10"/>
          <p:cNvSpPr/>
          <p:nvPr/>
        </p:nvSpPr>
        <p:spPr bwMode="auto">
          <a:xfrm>
            <a:off x="7772400" y="1097280"/>
            <a:ext cx="3016800" cy="1005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CCCC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6261569" name="TextBox 11"/>
          <p:cNvSpPr/>
          <p:nvPr/>
        </p:nvSpPr>
        <p:spPr bwMode="auto">
          <a:xfrm>
            <a:off x="7909560" y="1143000"/>
            <a:ext cx="2742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2E5EA8"/>
                </a:solidFill>
                <a:latin typeface="Times New Roman"/>
              </a:rPr>
              <a:t>Решение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316706" name="TextBox 12"/>
          <p:cNvSpPr/>
          <p:nvPr/>
        </p:nvSpPr>
        <p:spPr bwMode="auto">
          <a:xfrm>
            <a:off x="7909560" y="1417320"/>
            <a:ext cx="2742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PASS → дальнейший анализ</a:t>
            </a:r>
            <a:br>
              <a:rPr sz="1200"/>
            </a:b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FAIL → bad_reads_low_coverage.txt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168551" name="TextBox 13"/>
          <p:cNvSpPr/>
          <p:nvPr/>
        </p:nvSpPr>
        <p:spPr bwMode="auto">
          <a:xfrm>
            <a:off x="3560400" y="1371600"/>
            <a:ext cx="456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400" b="0" strike="noStrike" spc="-1">
                <a:solidFill>
                  <a:srgbClr val="278B4A"/>
                </a:solidFill>
                <a:latin typeface="Times New Roman"/>
              </a:rPr>
              <a:t>→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188882" name="TextBox 14"/>
          <p:cNvSpPr/>
          <p:nvPr/>
        </p:nvSpPr>
        <p:spPr bwMode="auto">
          <a:xfrm>
            <a:off x="7218000" y="1371600"/>
            <a:ext cx="456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400" b="0" strike="noStrike" spc="-1">
                <a:solidFill>
                  <a:srgbClr val="278B4A"/>
                </a:solidFill>
                <a:latin typeface="Times New Roman"/>
              </a:rPr>
              <a:t>→</a:t>
            </a:r>
            <a:endParaRPr lang="ru-RU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3511095" name="TextBox 15"/>
          <p:cNvSpPr/>
          <p:nvPr/>
        </p:nvSpPr>
        <p:spPr bwMode="auto">
          <a:xfrm>
            <a:off x="640080" y="2377440"/>
            <a:ext cx="914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Пороговые значения фильтрации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019265" name="Rounded Rectangle 16"/>
          <p:cNvSpPr/>
          <p:nvPr/>
        </p:nvSpPr>
        <p:spPr bwMode="auto">
          <a:xfrm>
            <a:off x="457200" y="2788920"/>
            <a:ext cx="319968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2516367" name="TextBox 17"/>
          <p:cNvSpPr/>
          <p:nvPr/>
        </p:nvSpPr>
        <p:spPr bwMode="auto">
          <a:xfrm>
            <a:off x="567000" y="2834640"/>
            <a:ext cx="2925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МЕДИАННОЕ ПОКРЫТИЕ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662887" name="TextBox 18"/>
          <p:cNvSpPr/>
          <p:nvPr/>
        </p:nvSpPr>
        <p:spPr bwMode="auto">
          <a:xfrm>
            <a:off x="567000" y="3063240"/>
            <a:ext cx="2925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600" b="1" strike="noStrike" spc="-1">
                <a:solidFill>
                  <a:srgbClr val="278B4A"/>
                </a:solidFill>
                <a:latin typeface="Times New Roman"/>
              </a:rPr>
              <a:t>≥ </a:t>
            </a:r>
            <a:r>
              <a:rPr lang="en-US" sz="2600" b="1" strike="noStrike" spc="-1">
                <a:solidFill>
                  <a:srgbClr val="278B4A"/>
                </a:solidFill>
                <a:latin typeface="Times New Roman"/>
              </a:rPr>
              <a:t>30X</a:t>
            </a: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32406" name="TextBox 19"/>
          <p:cNvSpPr/>
          <p:nvPr/>
        </p:nvSpPr>
        <p:spPr bwMode="auto">
          <a:xfrm>
            <a:off x="228600" y="3520440"/>
            <a:ext cx="3428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Picard CollectWgsMetrics→ median_coverage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083362" name="Rounded Rectangle 20"/>
          <p:cNvSpPr/>
          <p:nvPr/>
        </p:nvSpPr>
        <p:spPr bwMode="auto">
          <a:xfrm>
            <a:off x="4114800" y="2788920"/>
            <a:ext cx="319968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5EA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323652" name="TextBox 21"/>
          <p:cNvSpPr/>
          <p:nvPr/>
        </p:nvSpPr>
        <p:spPr bwMode="auto">
          <a:xfrm>
            <a:off x="4224600" y="2834640"/>
            <a:ext cx="2925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ВЫРАВНЕННЫЕ РИДЫ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1263419" name="TextBox 22"/>
          <p:cNvSpPr/>
          <p:nvPr/>
        </p:nvSpPr>
        <p:spPr bwMode="auto">
          <a:xfrm>
            <a:off x="4224600" y="3063240"/>
            <a:ext cx="2925720" cy="4865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600" b="1" strike="noStrike" spc="-1">
                <a:solidFill>
                  <a:srgbClr val="2E5EA8"/>
                </a:solidFill>
                <a:latin typeface="Times New Roman"/>
              </a:rPr>
              <a:t>≥ </a:t>
            </a:r>
            <a:r>
              <a:rPr lang="en-US" sz="2600" b="1" strike="noStrike" spc="-1">
                <a:solidFill>
                  <a:srgbClr val="2E5EA8"/>
                </a:solidFill>
                <a:latin typeface="Times New Roman"/>
              </a:rPr>
              <a:t>90%</a:t>
            </a: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864688" name="TextBox 23"/>
          <p:cNvSpPr/>
          <p:nvPr/>
        </p:nvSpPr>
        <p:spPr bwMode="auto">
          <a:xfrm>
            <a:off x="4224600" y="3520440"/>
            <a:ext cx="2925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Samtools stats → reads_mapped_percent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073140" name="Rounded Rectangle 24"/>
          <p:cNvSpPr/>
          <p:nvPr/>
        </p:nvSpPr>
        <p:spPr bwMode="auto">
          <a:xfrm>
            <a:off x="7772400" y="2788920"/>
            <a:ext cx="3199680" cy="1096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6858843" name="TextBox 25"/>
          <p:cNvSpPr/>
          <p:nvPr/>
        </p:nvSpPr>
        <p:spPr bwMode="auto">
          <a:xfrm>
            <a:off x="7882200" y="2834640"/>
            <a:ext cx="2925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КОНТАМИНАЦИЯ (TB-MIX)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356354" name="TextBox 26"/>
          <p:cNvSpPr/>
          <p:nvPr/>
        </p:nvSpPr>
        <p:spPr bwMode="auto">
          <a:xfrm>
            <a:off x="7882200" y="3063240"/>
            <a:ext cx="2925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600" b="1" strike="noStrike" spc="-1">
                <a:solidFill>
                  <a:srgbClr val="E67E22"/>
                </a:solidFill>
                <a:latin typeface="Times New Roman"/>
              </a:rPr>
              <a:t>&lt; 5%</a:t>
            </a:r>
            <a:endParaRPr lang="ru-RU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988153" name="TextBox 27"/>
          <p:cNvSpPr/>
          <p:nvPr/>
        </p:nvSpPr>
        <p:spPr bwMode="auto">
          <a:xfrm>
            <a:off x="7882200" y="3520440"/>
            <a:ext cx="2925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tb_mix.py — детекция смешанных инфекций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628739" name="TextBox 28"/>
          <p:cNvSpPr/>
          <p:nvPr/>
        </p:nvSpPr>
        <p:spPr bwMode="auto">
          <a:xfrm>
            <a:off x="640080" y="4114800"/>
            <a:ext cx="9143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555555"/>
                </a:solidFill>
                <a:latin typeface="Times New Roman"/>
              </a:rPr>
              <a:t>Как работает TB-Mix: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986368" name="TextBox 29"/>
          <p:cNvSpPr/>
          <p:nvPr/>
        </p:nvSpPr>
        <p:spPr bwMode="auto">
          <a:xfrm>
            <a:off x="640080" y="4389120"/>
            <a:ext cx="10059119" cy="1797567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  <a:spcAft>
                <a:spcPts val="499"/>
              </a:spcAft>
              <a:defRPr/>
            </a:pP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Анализирует BAM-файл на гетерогенность аллельных частот в информативных SNP-позициях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50000"/>
              </a:lnSpc>
              <a:spcAft>
                <a:spcPts val="499"/>
              </a:spcAft>
              <a:defRPr/>
            </a:pP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Порог смешанной инфекции: минорный аллель 5%–95% (--mix-low 0.05, --mix-high 0.95)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50000"/>
              </a:lnSpc>
              <a:spcAft>
                <a:spcPts val="499"/>
              </a:spcAft>
              <a:defRPr/>
            </a:pP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Параметры фильтрации ридов: MQ ≥ 30, BQ ≥ 20, мин. частота аллеля ≥ 4%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50000"/>
              </a:lnSpc>
              <a:spcAft>
                <a:spcPts val="499"/>
              </a:spcAft>
              <a:defRPr/>
            </a:pP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600" b="0" strike="noStrike" spc="-1">
                <a:solidFill>
                  <a:srgbClr val="2D2D2D"/>
                </a:solidFill>
                <a:latin typeface="Times New Roman"/>
              </a:rPr>
              <a:t>Образец со смешанной инфекцией ≥ 5% → исключается из дальнейшего анализа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404940" name="TextBox 30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6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623205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08874" name="TextBox 2"/>
          <p:cNvSpPr/>
          <p:nvPr/>
        </p:nvSpPr>
        <p:spPr bwMode="auto">
          <a:xfrm>
            <a:off x="2920680" y="228600"/>
            <a:ext cx="5953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Генотипирование и результаты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255312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9985692" name="TextBox 4"/>
          <p:cNvSpPr/>
          <p:nvPr/>
        </p:nvSpPr>
        <p:spPr bwMode="auto">
          <a:xfrm>
            <a:off x="640080" y="1051560"/>
            <a:ext cx="502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600" b="1" strike="noStrike" spc="-1">
                <a:solidFill>
                  <a:srgbClr val="2E5EA8"/>
                </a:solidFill>
                <a:latin typeface="Times New Roman"/>
              </a:rPr>
              <a:t>6 параллельных модулей генотипирования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62536646" name="Table 5"/>
          <p:cNvGraphicFramePr>
            <a:graphicFrameLocks xmlns:a="http://schemas.openxmlformats.org/drawingml/2006/main"/>
          </p:cNvGraphicFramePr>
          <p:nvPr/>
        </p:nvGraphicFramePr>
        <p:xfrm rot="0">
          <a:off x="640080" y="1371600"/>
          <a:ext cx="5303160" cy="2238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280160"/>
                <a:gridCol w="4023360"/>
              </a:tblGrid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Модуль</a:t>
                      </a:r>
                      <a:endParaRPr lang="ru-RU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Результат</a:t>
                      </a:r>
                      <a:endParaRPr lang="ru-RU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</a:tr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TBLG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Филогенетическая линия (L1–L7, подлинии)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SpoTyping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Споликотип (43-спейсерный бинарный код)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TB-Profiler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Лекарственная устойчивость (RIF, INH, EMB...)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RD-анализ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Регионы делеций (RD105, RD239, RD750...)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19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ISMapper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Позиции IS6110 (только paired-end)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Mosdepth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Профиль глубины покрытия по геному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093821483" name="TextBox 6"/>
          <p:cNvSpPr/>
          <p:nvPr/>
        </p:nvSpPr>
        <p:spPr bwMode="auto">
          <a:xfrm>
            <a:off x="640080" y="3749040"/>
            <a:ext cx="5302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Variant calling: Freebayes (ploidy=1, AF ≥ 80%, cov ≥ 10X)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Аннотация: SnpEff (эффект мутаций, аминокислотные замены)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4961291" name="TextBox 7"/>
          <p:cNvSpPr/>
          <p:nvPr/>
        </p:nvSpPr>
        <p:spPr bwMode="auto">
          <a:xfrm>
            <a:off x="6400800" y="1051560"/>
            <a:ext cx="50284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600" b="1" strike="noStrike" spc="-1">
                <a:solidFill>
                  <a:srgbClr val="2E5EA8"/>
                </a:solidFill>
                <a:latin typeface="Times New Roman"/>
              </a:rPr>
              <a:t>Выходные файлы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77016017" name="Table 8"/>
          <p:cNvGraphicFramePr>
            <a:graphicFrameLocks xmlns:a="http://schemas.openxmlformats.org/drawingml/2006/main"/>
          </p:cNvGraphicFramePr>
          <p:nvPr/>
        </p:nvGraphicFramePr>
        <p:xfrm rot="0">
          <a:off x="6400800" y="1371600"/>
          <a:ext cx="5303160" cy="25603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011680"/>
                <a:gridCol w="3291840"/>
              </a:tblGrid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Файл</a:t>
                      </a:r>
                      <a:endParaRPr lang="ru-RU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Описание</a:t>
                      </a:r>
                      <a:endParaRPr lang="ru-RU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FINAL_TABLE.xlsx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Сводная таблица всех образцов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general.tsv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QC-метрики когорты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dr.xlsx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Лекарственная устойчивость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spotyping.total.tsv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Споликотипы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rd.tsv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Делеции (RD)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filter.tbmix.tsv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TB-Mix + линии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MultiQC HTML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2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Интерактивный QC-дашборд</a:t>
                      </a:r>
                      <a:endParaRPr lang="ru-RU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1859704" name="TextBox 9"/>
          <p:cNvSpPr/>
          <p:nvPr/>
        </p:nvSpPr>
        <p:spPr bwMode="auto">
          <a:xfrm>
            <a:off x="6400800" y="3886200"/>
            <a:ext cx="5302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При &gt; 1 образце: ANN_TABLE — когортная матрица SNP</a:t>
            </a:r>
            <a:br>
              <a:rPr sz="1200"/>
            </a:br>
            <a:r>
              <a:rPr lang="en-US" sz="1200" b="0" strike="noStrike" spc="-1">
                <a:solidFill>
                  <a:srgbClr val="555555"/>
                </a:solidFill>
                <a:latin typeface="Times New Roman"/>
              </a:rPr>
              <a:t>(bcftools merge → SnpEff → SnpSift → TSV)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404081" name="TextBox 10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7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162050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5974064" name="TextBox 2"/>
          <p:cNvSpPr/>
          <p:nvPr/>
        </p:nvSpPr>
        <p:spPr bwMode="auto">
          <a:xfrm>
            <a:off x="2938680" y="228600"/>
            <a:ext cx="5917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Ресурсы и производительность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954804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1492012" name="TextBox 4"/>
          <p:cNvSpPr/>
          <p:nvPr/>
        </p:nvSpPr>
        <p:spPr bwMode="auto">
          <a:xfrm>
            <a:off x="640080" y="1051560"/>
            <a:ext cx="4571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600" b="1" strike="noStrike" spc="-1">
                <a:solidFill>
                  <a:srgbClr val="2E5EA8"/>
                </a:solidFill>
                <a:latin typeface="Times New Roman"/>
              </a:rPr>
              <a:t>Варианты запуска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481216" name="Rounded Rectangle 5"/>
          <p:cNvSpPr/>
          <p:nvPr/>
        </p:nvSpPr>
        <p:spPr bwMode="auto">
          <a:xfrm>
            <a:off x="640080" y="1371600"/>
            <a:ext cx="484560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5036039" name="TextBox 6"/>
          <p:cNvSpPr/>
          <p:nvPr/>
        </p:nvSpPr>
        <p:spPr bwMode="auto">
          <a:xfrm>
            <a:off x="749879" y="1408320"/>
            <a:ext cx="4571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SINGULARITY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190596" name="TextBox 7"/>
          <p:cNvSpPr/>
          <p:nvPr/>
        </p:nvSpPr>
        <p:spPr bwMode="auto">
          <a:xfrm>
            <a:off x="749879" y="1600200"/>
            <a:ext cx="4571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nextflow run main.nf -profile local -resume -c singularity.conf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314553" name="Rounded Rectangle 8"/>
          <p:cNvSpPr/>
          <p:nvPr/>
        </p:nvSpPr>
        <p:spPr bwMode="auto">
          <a:xfrm>
            <a:off x="640080" y="2011680"/>
            <a:ext cx="484560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5EA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2625001" name="TextBox 9"/>
          <p:cNvSpPr/>
          <p:nvPr/>
        </p:nvSpPr>
        <p:spPr bwMode="auto">
          <a:xfrm>
            <a:off x="749879" y="2048400"/>
            <a:ext cx="4571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DOCKER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7462556" name="TextBox 10"/>
          <p:cNvSpPr/>
          <p:nvPr/>
        </p:nvSpPr>
        <p:spPr bwMode="auto">
          <a:xfrm>
            <a:off x="749879" y="2240280"/>
            <a:ext cx="4571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nextflow run main.nf -resume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93666" name="Rounded Rectangle 11"/>
          <p:cNvSpPr/>
          <p:nvPr/>
        </p:nvSpPr>
        <p:spPr bwMode="auto">
          <a:xfrm>
            <a:off x="640080" y="2651760"/>
            <a:ext cx="4845600" cy="547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033259" name="TextBox 12"/>
          <p:cNvSpPr/>
          <p:nvPr/>
        </p:nvSpPr>
        <p:spPr bwMode="auto">
          <a:xfrm>
            <a:off x="749879" y="2688480"/>
            <a:ext cx="45712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900" b="1" strike="noStrike" spc="-1">
                <a:solidFill>
                  <a:srgbClr val="999999"/>
                </a:solidFill>
                <a:latin typeface="Times New Roman"/>
              </a:rPr>
              <a:t>KUBERNETES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406749" name="TextBox 13"/>
          <p:cNvSpPr/>
          <p:nvPr/>
        </p:nvSpPr>
        <p:spPr bwMode="auto">
          <a:xfrm>
            <a:off x="749879" y="2880360"/>
            <a:ext cx="4571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nextflow run main.nf -profile k8s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237192" name="TextBox 14"/>
          <p:cNvSpPr/>
          <p:nvPr/>
        </p:nvSpPr>
        <p:spPr bwMode="auto">
          <a:xfrm>
            <a:off x="640080" y="3383280"/>
            <a:ext cx="4571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600" b="1" strike="noStrike" spc="-1">
                <a:solidFill>
                  <a:srgbClr val="2E5EA8"/>
                </a:solidFill>
                <a:latin typeface="Times New Roman"/>
              </a:rPr>
              <a:t>Контейнеры</a:t>
            </a:r>
            <a:endParaRPr lang="ru-RU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43379" name="TextBox 15"/>
          <p:cNvSpPr/>
          <p:nvPr/>
        </p:nvSpPr>
        <p:spPr bwMode="auto">
          <a:xfrm>
            <a:off x="640080" y="3657600"/>
            <a:ext cx="457128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3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300" b="0" strike="noStrike" spc="-1">
                <a:solidFill>
                  <a:srgbClr val="2D2D2D"/>
                </a:solidFill>
                <a:latin typeface="Times New Roman"/>
              </a:rPr>
              <a:t>15 кастомных Docker-образов + 8 из Docker Hub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  <a:defRPr/>
            </a:pPr>
            <a:r>
              <a:rPr lang="en-US" sz="1300" b="0" strike="noStrike" spc="-1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300" b="0" strike="noStrike" spc="-1">
                <a:solidFill>
                  <a:srgbClr val="2D2D2D"/>
                </a:solidFill>
                <a:latin typeface="Times New Roman"/>
              </a:rPr>
              <a:t>Поддержка Singularity (.sif) и Docker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808804" name="TextBox 16"/>
          <p:cNvSpPr/>
          <p:nvPr/>
        </p:nvSpPr>
        <p:spPr bwMode="auto">
          <a:xfrm>
            <a:off x="5943600" y="1051560"/>
            <a:ext cx="5760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E5EA8"/>
                </a:solidFill>
                <a:latin typeface="Times New Roman"/>
              </a:rPr>
              <a:t>Время на 1 образец (тестовый запуск, 16 обр.)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93591539" name="Table 17"/>
          <p:cNvGraphicFramePr>
            <a:graphicFrameLocks xmlns:a="http://schemas.openxmlformats.org/drawingml/2006/main"/>
          </p:cNvGraphicFramePr>
          <p:nvPr/>
        </p:nvGraphicFramePr>
        <p:xfrm rot="0">
          <a:off x="5943600" y="1371600"/>
          <a:ext cx="5120280" cy="219456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645920"/>
                <a:gridCol w="914400"/>
                <a:gridCol w="914400"/>
                <a:gridCol w="1645920"/>
              </a:tblGrid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Этап</a:t>
                      </a:r>
                      <a:endParaRPr lang="ru-RU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Среднее</a:t>
                      </a:r>
                      <a:endParaRPr lang="ru-RU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Макс.</a:t>
                      </a:r>
                      <a:endParaRPr lang="ru-RU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Peak RAM</a:t>
                      </a:r>
                      <a:endParaRPr lang="ru-RU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 FASTP (тримминг)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28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54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1.5 ГБ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2. FastQC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11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27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1.6 ГБ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3. BWA + Picard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1.0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3.2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3.5 ГБ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4. FILTER (3 модуля)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55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1.7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692 МБ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5. Freebayes + SnpEff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51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1.5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270 МБ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6. Genotyping (6 мод.)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57 сек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2.9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979 МБ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Итого на 1 обр.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~5.5 мин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en-US" sz="1100" b="0" strike="noStrike" spc="-1">
                        <a:solidFill>
                          <a:srgbClr val="2D2D2D"/>
                        </a:solidFill>
                        <a:latin typeface="Times New Roman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1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bottleneck: BWA+Picard</a:t>
                      </a:r>
                      <a:endParaRPr lang="ru-RU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7430418" name="Rounded Rectangle 18"/>
          <p:cNvSpPr/>
          <p:nvPr/>
        </p:nvSpPr>
        <p:spPr bwMode="auto">
          <a:xfrm>
            <a:off x="5943600" y="3931920"/>
            <a:ext cx="26967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5201028" name="TextBox 19"/>
          <p:cNvSpPr/>
          <p:nvPr/>
        </p:nvSpPr>
        <p:spPr bwMode="auto">
          <a:xfrm>
            <a:off x="6035039" y="3968640"/>
            <a:ext cx="2513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800" b="1" strike="noStrike" spc="-1">
                <a:solidFill>
                  <a:srgbClr val="999999"/>
                </a:solidFill>
                <a:latin typeface="Times New Roman"/>
              </a:rPr>
              <a:t>16 ОБРАЗЦОВ (ПОЛНЫЙ)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2189278" name="TextBox 20"/>
          <p:cNvSpPr/>
          <p:nvPr/>
        </p:nvSpPr>
        <p:spPr bwMode="auto">
          <a:xfrm>
            <a:off x="6035039" y="4133160"/>
            <a:ext cx="251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78B4A"/>
                </a:solidFill>
                <a:latin typeface="Times New Roman"/>
              </a:rPr>
              <a:t>24 мин 39 сек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061663" name="TextBox 21"/>
          <p:cNvSpPr/>
          <p:nvPr/>
        </p:nvSpPr>
        <p:spPr bwMode="auto">
          <a:xfrm>
            <a:off x="6035039" y="4425840"/>
            <a:ext cx="25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0" strike="noStrike" spc="-1">
                <a:solidFill>
                  <a:srgbClr val="555555"/>
                </a:solidFill>
                <a:latin typeface="Times New Roman"/>
              </a:rPr>
              <a:t>wall clock, 244 задачи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204711" name="Rounded Rectangle 22"/>
          <p:cNvSpPr/>
          <p:nvPr/>
        </p:nvSpPr>
        <p:spPr bwMode="auto">
          <a:xfrm>
            <a:off x="8750880" y="3931920"/>
            <a:ext cx="26967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E5EA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5334024" name="TextBox 23"/>
          <p:cNvSpPr/>
          <p:nvPr/>
        </p:nvSpPr>
        <p:spPr bwMode="auto">
          <a:xfrm>
            <a:off x="8842320" y="3968640"/>
            <a:ext cx="2513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800" b="1" strike="noStrike" spc="-1">
                <a:solidFill>
                  <a:srgbClr val="999999"/>
                </a:solidFill>
                <a:latin typeface="Times New Roman"/>
              </a:rPr>
              <a:t>100 ОБР. (ЭКСТРАПОЛЯЦИЯ)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0662" name="TextBox 24"/>
          <p:cNvSpPr/>
          <p:nvPr/>
        </p:nvSpPr>
        <p:spPr bwMode="auto">
          <a:xfrm>
            <a:off x="8842320" y="4133160"/>
            <a:ext cx="251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~1.5–2.5 ч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669486" name="TextBox 25"/>
          <p:cNvSpPr/>
          <p:nvPr/>
        </p:nvSpPr>
        <p:spPr bwMode="auto">
          <a:xfrm>
            <a:off x="8842320" y="4425840"/>
            <a:ext cx="25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0" strike="noStrike" spc="-1">
                <a:solidFill>
                  <a:srgbClr val="555555"/>
                </a:solidFill>
                <a:latin typeface="Times New Roman"/>
              </a:rPr>
              <a:t>12 параллельных задач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141715" name="Rounded Rectangle 26"/>
          <p:cNvSpPr/>
          <p:nvPr/>
        </p:nvSpPr>
        <p:spPr bwMode="auto">
          <a:xfrm>
            <a:off x="5943600" y="4736520"/>
            <a:ext cx="26967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0198846" name="TextBox 27"/>
          <p:cNvSpPr/>
          <p:nvPr/>
        </p:nvSpPr>
        <p:spPr bwMode="auto">
          <a:xfrm>
            <a:off x="6035039" y="4773240"/>
            <a:ext cx="2513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800" b="1" strike="noStrike" spc="-1">
                <a:solidFill>
                  <a:srgbClr val="999999"/>
                </a:solidFill>
                <a:latin typeface="Times New Roman"/>
              </a:rPr>
              <a:t>ОПЕРАТИВНАЯ ПАМЯТЬ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686030" name="TextBox 28"/>
          <p:cNvSpPr/>
          <p:nvPr/>
        </p:nvSpPr>
        <p:spPr bwMode="auto">
          <a:xfrm>
            <a:off x="6035039" y="4937760"/>
            <a:ext cx="251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E67E22"/>
                </a:solidFill>
                <a:latin typeface="Times New Roman"/>
              </a:rPr>
              <a:t>≥ </a:t>
            </a:r>
            <a:r>
              <a:rPr lang="en-US" sz="1800" b="1" strike="noStrike" spc="-1">
                <a:solidFill>
                  <a:srgbClr val="E67E22"/>
                </a:solidFill>
                <a:latin typeface="Times New Roman"/>
              </a:rPr>
              <a:t>8 ГБ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663257" name="TextBox 29"/>
          <p:cNvSpPr/>
          <p:nvPr/>
        </p:nvSpPr>
        <p:spPr bwMode="auto">
          <a:xfrm>
            <a:off x="6035039" y="5230440"/>
            <a:ext cx="25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0" strike="noStrike" spc="-1">
                <a:solidFill>
                  <a:srgbClr val="555555"/>
                </a:solidFill>
                <a:latin typeface="Times New Roman"/>
              </a:rPr>
              <a:t>пик: BWA+Picard 3.5 ГБ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520216" name="Rounded Rectangle 30"/>
          <p:cNvSpPr/>
          <p:nvPr/>
        </p:nvSpPr>
        <p:spPr bwMode="auto">
          <a:xfrm>
            <a:off x="8750880" y="4736520"/>
            <a:ext cx="2696760" cy="712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55555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306947" name="TextBox 31"/>
          <p:cNvSpPr/>
          <p:nvPr/>
        </p:nvSpPr>
        <p:spPr bwMode="auto">
          <a:xfrm>
            <a:off x="8842320" y="4773240"/>
            <a:ext cx="2513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800" b="1" strike="noStrike" spc="-1">
                <a:solidFill>
                  <a:srgbClr val="999999"/>
                </a:solidFill>
                <a:latin typeface="Times New Roman"/>
              </a:rPr>
              <a:t>ДИСКОВОЕ ПРОСТРАНСТВО</a:t>
            </a:r>
            <a:endParaRPr lang="ru-RU" sz="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4747386" name="TextBox 32"/>
          <p:cNvSpPr/>
          <p:nvPr/>
        </p:nvSpPr>
        <p:spPr bwMode="auto">
          <a:xfrm>
            <a:off x="8842320" y="4937760"/>
            <a:ext cx="2513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555555"/>
                </a:solidFill>
                <a:latin typeface="Times New Roman"/>
              </a:rPr>
              <a:t>~1–2 ГБ/обр.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981444" name="TextBox 33"/>
          <p:cNvSpPr/>
          <p:nvPr/>
        </p:nvSpPr>
        <p:spPr bwMode="auto">
          <a:xfrm>
            <a:off x="8842320" y="5230440"/>
            <a:ext cx="2513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900" b="0" strike="noStrike" spc="-1">
                <a:solidFill>
                  <a:srgbClr val="555555"/>
                </a:solidFill>
                <a:latin typeface="Times New Roman"/>
              </a:rPr>
              <a:t>100 обр. ≈ 100–200 ГБ</a:t>
            </a:r>
            <a:endParaRPr lang="ru-RU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399896" name="TextBox 34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8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40275" name="TextBox 14"/>
          <p:cNvSpPr/>
          <p:nvPr/>
        </p:nvSpPr>
        <p:spPr bwMode="auto">
          <a:xfrm>
            <a:off x="640079" y="4425840"/>
            <a:ext cx="4585320" cy="334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ru-RU" sz="1600" b="1" i="0" u="none" strike="noStrike" cap="none" spc="0">
                <a:solidFill>
                  <a:srgbClr val="2E5EA8"/>
                </a:solidFill>
                <a:latin typeface="Times New Roman"/>
                <a:ea typeface="Times New Roman"/>
                <a:cs typeface="Times New Roman"/>
              </a:rPr>
              <a:t>Тестовая система</a:t>
            </a:r>
            <a:endParaRPr lang="ru-RU" sz="1600" b="0" strike="noStrike" spc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153111" name="TextBox 15"/>
          <p:cNvSpPr/>
          <p:nvPr/>
        </p:nvSpPr>
        <p:spPr bwMode="auto">
          <a:xfrm flipH="0" flipV="0">
            <a:off x="640079" y="4700160"/>
            <a:ext cx="2906444" cy="83342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8"/>
              </a:spcAft>
              <a:defRPr/>
            </a:pPr>
            <a:r>
              <a:rPr lang="en-US" sz="1300" b="0" strike="noStrike" spc="0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en-US" sz="12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AMD Ryzen 7 3700X (16) @ 4.190GHz</a:t>
            </a:r>
            <a:endParaRPr lang="ru-RU" sz="1300" b="0" strike="noStrike" spc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8"/>
              </a:spcAft>
              <a:defRPr/>
            </a:pPr>
            <a:r>
              <a:rPr lang="en-US" sz="1300" b="0" strike="noStrike" spc="0">
                <a:solidFill>
                  <a:srgbClr val="2D2D2D"/>
                </a:solidFill>
                <a:latin typeface="Times New Roman"/>
              </a:rPr>
              <a:t>▸  </a:t>
            </a:r>
            <a:r>
              <a:rPr lang="ru-RU" sz="13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32 ГБ RAM</a:t>
            </a:r>
            <a:endParaRPr lang="ru-RU" sz="1300" b="0" strike="noStrike" spc="0">
              <a:solidFill>
                <a:srgbClr val="2D2D2D"/>
              </a:solidFill>
              <a:latin typeface="Times New Roman"/>
            </a:endParaRPr>
          </a:p>
          <a:p>
            <a:pPr defTabSz="457200">
              <a:lnSpc>
                <a:spcPct val="100000"/>
              </a:lnSpc>
              <a:spcAft>
                <a:spcPts val="498"/>
              </a:spcAft>
              <a:defRPr/>
            </a:pPr>
            <a:r>
              <a:rPr lang="en-US" sz="13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▸ </a:t>
            </a:r>
            <a:r>
              <a:rPr lang="ru-RU" sz="13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NVMe SSD</a:t>
            </a:r>
            <a:endParaRPr lang="ru-RU" sz="1300" b="0" strike="noStrike" spc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942793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3300384" name="TextBox 2"/>
          <p:cNvSpPr/>
          <p:nvPr/>
        </p:nvSpPr>
        <p:spPr bwMode="auto">
          <a:xfrm>
            <a:off x="2849040" y="228600"/>
            <a:ext cx="6096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Результаты: коллекция геномов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711025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4109661" name="TextBox 4"/>
          <p:cNvSpPr/>
          <p:nvPr/>
        </p:nvSpPr>
        <p:spPr bwMode="auto">
          <a:xfrm>
            <a:off x="640080" y="1097280"/>
            <a:ext cx="5486039" cy="3646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Распределение по линиям 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349260" name="TextBox 5"/>
          <p:cNvSpPr/>
          <p:nvPr/>
        </p:nvSpPr>
        <p:spPr bwMode="auto">
          <a:xfrm>
            <a:off x="640080" y="1508759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L4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6304575" name="Rectangle 6"/>
          <p:cNvSpPr/>
          <p:nvPr/>
        </p:nvSpPr>
        <p:spPr bwMode="auto">
          <a:xfrm>
            <a:off x="1920240" y="1563480"/>
            <a:ext cx="3809519" cy="25524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0083411" name="TextBox 7"/>
          <p:cNvSpPr/>
          <p:nvPr/>
        </p:nvSpPr>
        <p:spPr bwMode="auto">
          <a:xfrm>
            <a:off x="5715000" y="1540800"/>
            <a:ext cx="1353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36,610 (46.3%)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060030" name="TextBox 8"/>
          <p:cNvSpPr/>
          <p:nvPr/>
        </p:nvSpPr>
        <p:spPr bwMode="auto">
          <a:xfrm>
            <a:off x="640080" y="1965960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L2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673569" name="Rectangle 9"/>
          <p:cNvSpPr/>
          <p:nvPr/>
        </p:nvSpPr>
        <p:spPr bwMode="auto">
          <a:xfrm>
            <a:off x="1920240" y="2020680"/>
            <a:ext cx="2394000" cy="255240"/>
          </a:xfrm>
          <a:prstGeom prst="rect">
            <a:avLst/>
          </a:prstGeom>
          <a:solidFill>
            <a:srgbClr val="5DA5D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1157187" name="TextBox 10"/>
          <p:cNvSpPr/>
          <p:nvPr/>
        </p:nvSpPr>
        <p:spPr bwMode="auto">
          <a:xfrm>
            <a:off x="4406400" y="1965960"/>
            <a:ext cx="2285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22,995 (29.1%)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918722" name="TextBox 11"/>
          <p:cNvSpPr/>
          <p:nvPr/>
        </p:nvSpPr>
        <p:spPr bwMode="auto">
          <a:xfrm>
            <a:off x="640080" y="2423160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L3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219701" name="Rectangle 12"/>
          <p:cNvSpPr/>
          <p:nvPr/>
        </p:nvSpPr>
        <p:spPr bwMode="auto">
          <a:xfrm>
            <a:off x="1920240" y="2477880"/>
            <a:ext cx="707040" cy="255240"/>
          </a:xfrm>
          <a:prstGeom prst="rect">
            <a:avLst/>
          </a:prstGeom>
          <a:solidFill>
            <a:srgbClr val="60BD6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7729051" name="TextBox 13"/>
          <p:cNvSpPr/>
          <p:nvPr/>
        </p:nvSpPr>
        <p:spPr bwMode="auto">
          <a:xfrm>
            <a:off x="2719440" y="2423160"/>
            <a:ext cx="2285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6,797 (8.6%)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55249" name="TextBox 14"/>
          <p:cNvSpPr/>
          <p:nvPr/>
        </p:nvSpPr>
        <p:spPr bwMode="auto">
          <a:xfrm>
            <a:off x="640080" y="2880360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L1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606336" name="Rectangle 15"/>
          <p:cNvSpPr/>
          <p:nvPr/>
        </p:nvSpPr>
        <p:spPr bwMode="auto">
          <a:xfrm>
            <a:off x="1920240" y="2935080"/>
            <a:ext cx="632879" cy="255240"/>
          </a:xfrm>
          <a:prstGeom prst="rect">
            <a:avLst/>
          </a:prstGeom>
          <a:solidFill>
            <a:srgbClr val="FAB763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9889417" name="TextBox 16"/>
          <p:cNvSpPr/>
          <p:nvPr/>
        </p:nvSpPr>
        <p:spPr bwMode="auto">
          <a:xfrm>
            <a:off x="2645280" y="2880360"/>
            <a:ext cx="2285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6,080 (7.7%)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005975" name="TextBox 17"/>
          <p:cNvSpPr/>
          <p:nvPr/>
        </p:nvSpPr>
        <p:spPr bwMode="auto">
          <a:xfrm>
            <a:off x="640080" y="3337560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M. bovis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723235" name="Rectangle 18"/>
          <p:cNvSpPr/>
          <p:nvPr/>
        </p:nvSpPr>
        <p:spPr bwMode="auto">
          <a:xfrm>
            <a:off x="1920240" y="3392280"/>
            <a:ext cx="501120" cy="255240"/>
          </a:xfrm>
          <a:prstGeom prst="rect">
            <a:avLst/>
          </a:prstGeom>
          <a:solidFill>
            <a:srgbClr val="F17CB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7006558" name="TextBox 19"/>
          <p:cNvSpPr/>
          <p:nvPr/>
        </p:nvSpPr>
        <p:spPr bwMode="auto">
          <a:xfrm>
            <a:off x="2513519" y="3337560"/>
            <a:ext cx="2285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4,837 (6.1%)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695731" name="TextBox 20"/>
          <p:cNvSpPr/>
          <p:nvPr/>
        </p:nvSpPr>
        <p:spPr bwMode="auto">
          <a:xfrm>
            <a:off x="640080" y="3794760"/>
            <a:ext cx="1188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500" b="1" strike="noStrike" spc="-1">
                <a:solidFill>
                  <a:srgbClr val="2D2D2D"/>
                </a:solidFill>
                <a:latin typeface="Times New Roman"/>
              </a:rPr>
              <a:t>Другие</a:t>
            </a:r>
            <a:endParaRPr lang="ru-RU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900638" name="Rectangle 21"/>
          <p:cNvSpPr/>
          <p:nvPr/>
        </p:nvSpPr>
        <p:spPr bwMode="auto">
          <a:xfrm>
            <a:off x="1920240" y="3849480"/>
            <a:ext cx="180360" cy="25524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251297" name="TextBox 22"/>
          <p:cNvSpPr/>
          <p:nvPr/>
        </p:nvSpPr>
        <p:spPr bwMode="auto">
          <a:xfrm>
            <a:off x="2192760" y="3794760"/>
            <a:ext cx="2285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strike="noStrike" spc="-1">
                <a:solidFill>
                  <a:srgbClr val="555555"/>
                </a:solidFill>
                <a:latin typeface="Times New Roman"/>
              </a:rPr>
              <a:t>1,775 (2.2%)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294063" name="TextBox 23"/>
          <p:cNvSpPr/>
          <p:nvPr/>
        </p:nvSpPr>
        <p:spPr bwMode="auto">
          <a:xfrm>
            <a:off x="640080" y="4389120"/>
            <a:ext cx="54856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300" b="0" i="1" strike="noStrike" spc="-1">
                <a:solidFill>
                  <a:srgbClr val="555555"/>
                </a:solidFill>
                <a:latin typeface="Times New Roman"/>
              </a:rPr>
              <a:t>Доминирование современных линий L4 и L2</a:t>
            </a:r>
            <a:br>
              <a:rPr sz="1300"/>
            </a:br>
            <a:r>
              <a:rPr lang="en-US" sz="1300" b="0" i="1" strike="noStrike" spc="-1">
                <a:solidFill>
                  <a:srgbClr val="555555"/>
                </a:solidFill>
                <a:latin typeface="Times New Roman"/>
              </a:rPr>
              <a:t>согласуется с данными мировой литературы</a:t>
            </a:r>
            <a:endParaRPr lang="ru-RU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464270" name="TextBox 24"/>
          <p:cNvSpPr/>
          <p:nvPr/>
        </p:nvSpPr>
        <p:spPr bwMode="auto">
          <a:xfrm>
            <a:off x="7162920" y="1097280"/>
            <a:ext cx="5028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Первые 10 стран происхождения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8144067" name="Table 25"/>
          <p:cNvGraphicFramePr>
            <a:graphicFrameLocks xmlns:a="http://schemas.openxmlformats.org/drawingml/2006/main"/>
          </p:cNvGraphicFramePr>
          <p:nvPr/>
        </p:nvGraphicFramePr>
        <p:xfrm rot="0">
          <a:off x="7068960" y="1504800"/>
          <a:ext cx="4114440" cy="33184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28800"/>
                <a:gridCol w="1371600"/>
                <a:gridCol w="914400"/>
              </a:tblGrid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Страна</a:t>
                      </a:r>
                      <a:endParaRPr lang="ru-RU" sz="13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Изоляты</a:t>
                      </a:r>
                      <a:endParaRPr lang="ru-RU" sz="13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1" strike="noStrike" spc="-1">
                          <a:solidFill>
                            <a:srgbClr val="FFFFFF"/>
                          </a:solidFill>
                          <a:latin typeface="Times New Roman"/>
                        </a:rPr>
                        <a:t>%</a:t>
                      </a:r>
                      <a:endParaRPr lang="ru-RU" sz="13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2E5EA8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Georgia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4 946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12,0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USA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4 151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10,0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Australia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3 598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8,7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China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3 349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8,1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Moldova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3 251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7,9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Peru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1 854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4,5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Gambia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1 837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4,4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South Africa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1 329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3,2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Viet Nam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1 132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2,7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1680">
                <a:tc>
                  <a:txBody>
                    <a:bodyPr/>
                    <a:p>
                      <a:pPr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Brazil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1 123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p>
                      <a:pPr algn="ctr" defTabSz="457200">
                        <a:lnSpc>
                          <a:spcPct val="100000"/>
                        </a:lnSpc>
                        <a:defRPr/>
                      </a:pPr>
                      <a:r>
                        <a:rPr lang="en-US" sz="1300" b="0" strike="noStrike" spc="-1">
                          <a:solidFill>
                            <a:srgbClr val="2D2D2D"/>
                          </a:solidFill>
                          <a:latin typeface="Times New Roman"/>
                        </a:rPr>
                        <a:t>2,7</a:t>
                      </a:r>
                      <a:endParaRPr lang="ru-RU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ctr">
                    <a:lnL w="12240" algn="ctr">
                      <a:solidFill>
                        <a:srgbClr val="FFFFFF"/>
                      </a:solidFill>
                    </a:lnL>
                    <a:lnR w="12240" algn="ctr">
                      <a:solidFill>
                        <a:srgbClr val="FFFFFF"/>
                      </a:solidFill>
                    </a:lnR>
                    <a:lnT w="12240" algn="ctr">
                      <a:solidFill>
                        <a:srgbClr val="FFFFFF"/>
                      </a:solidFill>
                    </a:lnT>
                    <a:lnB w="12240" algn="ctr">
                      <a:solidFill>
                        <a:srgbClr val="FFFFFF"/>
                      </a:solidFill>
                    </a:lnB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53022366" name="TextBox 26"/>
          <p:cNvSpPr/>
          <p:nvPr/>
        </p:nvSpPr>
        <p:spPr bwMode="auto">
          <a:xfrm>
            <a:off x="7086600" y="5029200"/>
            <a:ext cx="5028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i="1" strike="noStrike" spc="-1">
                <a:solidFill>
                  <a:srgbClr val="555555"/>
                </a:solidFill>
                <a:latin typeface="Times New Roman"/>
              </a:rPr>
              <a:t>Распределение отражает как эпидемиологию,</a:t>
            </a:r>
            <a:br>
              <a:rPr sz="1200"/>
            </a:br>
            <a:r>
              <a:rPr lang="en-US" sz="1200" b="0" i="1" strike="noStrike" spc="-1">
                <a:solidFill>
                  <a:srgbClr val="555555"/>
                </a:solidFill>
                <a:latin typeface="Times New Roman"/>
              </a:rPr>
              <a:t>так и доступность секвенирования и депонирования данных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886406" name="TextBox 27"/>
          <p:cNvSpPr/>
          <p:nvPr/>
        </p:nvSpPr>
        <p:spPr bwMode="auto">
          <a:xfrm>
            <a:off x="11260079" y="6492240"/>
            <a:ext cx="52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9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831935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6346863" name="TextBox 2"/>
          <p:cNvSpPr/>
          <p:nvPr/>
        </p:nvSpPr>
        <p:spPr bwMode="auto">
          <a:xfrm>
            <a:off x="1968120" y="228600"/>
            <a:ext cx="7858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Результаты: лекарственная устойчивость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9585690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865678" name="TextBox 4"/>
          <p:cNvSpPr/>
          <p:nvPr/>
        </p:nvSpPr>
        <p:spPr bwMode="auto">
          <a:xfrm>
            <a:off x="640080" y="979560"/>
            <a:ext cx="10972079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Классификация устойчивости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260163" name="Rounded Rectangle 5"/>
          <p:cNvSpPr/>
          <p:nvPr/>
        </p:nvSpPr>
        <p:spPr bwMode="auto">
          <a:xfrm>
            <a:off x="640080" y="1371600"/>
            <a:ext cx="25596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78B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9921505" name="TextBox 6"/>
          <p:cNvSpPr/>
          <p:nvPr/>
        </p:nvSpPr>
        <p:spPr bwMode="auto">
          <a:xfrm>
            <a:off x="713160" y="1398960"/>
            <a:ext cx="2376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278B4A"/>
                </a:solidFill>
                <a:latin typeface="Times New Roman"/>
              </a:rPr>
              <a:t>DS-TB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189479" name="TextBox 7"/>
          <p:cNvSpPr/>
          <p:nvPr/>
        </p:nvSpPr>
        <p:spPr bwMode="auto">
          <a:xfrm>
            <a:off x="713160" y="1600200"/>
            <a:ext cx="2376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278B4A"/>
                </a:solidFill>
                <a:latin typeface="Times New Roman"/>
              </a:rPr>
              <a:t>68,0%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7253491" name="TextBox 8"/>
          <p:cNvSpPr/>
          <p:nvPr/>
        </p:nvSpPr>
        <p:spPr bwMode="auto">
          <a:xfrm>
            <a:off x="713160" y="1919160"/>
            <a:ext cx="2376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43,011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274009" name="Rounded Rectangle 9"/>
          <p:cNvSpPr/>
          <p:nvPr/>
        </p:nvSpPr>
        <p:spPr bwMode="auto">
          <a:xfrm>
            <a:off x="3474720" y="1371600"/>
            <a:ext cx="25596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E67E2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0762509" name="TextBox 10"/>
          <p:cNvSpPr/>
          <p:nvPr/>
        </p:nvSpPr>
        <p:spPr bwMode="auto">
          <a:xfrm>
            <a:off x="3547800" y="1398960"/>
            <a:ext cx="2376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E67E22"/>
                </a:solidFill>
                <a:latin typeface="Times New Roman"/>
              </a:rPr>
              <a:t>MDR-TB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987531" name="TextBox 11"/>
          <p:cNvSpPr/>
          <p:nvPr/>
        </p:nvSpPr>
        <p:spPr bwMode="auto">
          <a:xfrm>
            <a:off x="3547800" y="1600200"/>
            <a:ext cx="2376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E67E22"/>
                </a:solidFill>
                <a:latin typeface="Times New Roman"/>
              </a:rPr>
              <a:t>19,8%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864458" name="TextBox 12"/>
          <p:cNvSpPr/>
          <p:nvPr/>
        </p:nvSpPr>
        <p:spPr bwMode="auto">
          <a:xfrm>
            <a:off x="3547800" y="1919160"/>
            <a:ext cx="2376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12,515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222961" name="Rounded Rectangle 13"/>
          <p:cNvSpPr/>
          <p:nvPr/>
        </p:nvSpPr>
        <p:spPr bwMode="auto">
          <a:xfrm>
            <a:off x="6309360" y="1371600"/>
            <a:ext cx="25596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1971663" name="TextBox 14"/>
          <p:cNvSpPr/>
          <p:nvPr/>
        </p:nvSpPr>
        <p:spPr bwMode="auto">
          <a:xfrm>
            <a:off x="6382440" y="1398960"/>
            <a:ext cx="2376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C0392B"/>
                </a:solidFill>
                <a:latin typeface="Times New Roman"/>
              </a:rPr>
              <a:t>pre-XDR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43516" name="TextBox 15"/>
          <p:cNvSpPr/>
          <p:nvPr/>
        </p:nvSpPr>
        <p:spPr bwMode="auto">
          <a:xfrm>
            <a:off x="6382440" y="1600200"/>
            <a:ext cx="2376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C0392B"/>
                </a:solidFill>
                <a:latin typeface="Times New Roman"/>
              </a:rPr>
              <a:t>11,4%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729661" name="TextBox 16"/>
          <p:cNvSpPr/>
          <p:nvPr/>
        </p:nvSpPr>
        <p:spPr bwMode="auto">
          <a:xfrm>
            <a:off x="6382440" y="1919160"/>
            <a:ext cx="2376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7,189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793704" name="Rounded Rectangle 17"/>
          <p:cNvSpPr/>
          <p:nvPr/>
        </p:nvSpPr>
        <p:spPr bwMode="auto">
          <a:xfrm>
            <a:off x="9144000" y="1371600"/>
            <a:ext cx="25596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8E241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4631374" name="TextBox 18"/>
          <p:cNvSpPr/>
          <p:nvPr/>
        </p:nvSpPr>
        <p:spPr bwMode="auto">
          <a:xfrm>
            <a:off x="9217079" y="1398960"/>
            <a:ext cx="2376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400" b="1" strike="noStrike" spc="-1">
                <a:solidFill>
                  <a:srgbClr val="8E241E"/>
                </a:solidFill>
                <a:latin typeface="Times New Roman"/>
              </a:rPr>
              <a:t>XDR-TB</a:t>
            </a:r>
            <a:endParaRPr lang="ru-RU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3083150" name="TextBox 19"/>
          <p:cNvSpPr/>
          <p:nvPr/>
        </p:nvSpPr>
        <p:spPr bwMode="auto">
          <a:xfrm>
            <a:off x="9217079" y="1600200"/>
            <a:ext cx="2376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2200" b="1" strike="noStrike" spc="-1">
                <a:solidFill>
                  <a:srgbClr val="8E241E"/>
                </a:solidFill>
                <a:latin typeface="Times New Roman"/>
              </a:rPr>
              <a:t>0,9%</a:t>
            </a:r>
            <a:endParaRPr lang="ru-RU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4089096" name="TextBox 20"/>
          <p:cNvSpPr/>
          <p:nvPr/>
        </p:nvSpPr>
        <p:spPr bwMode="auto">
          <a:xfrm>
            <a:off x="9217079" y="1919160"/>
            <a:ext cx="23767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543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5169133" name="TextBox 21"/>
          <p:cNvSpPr/>
          <p:nvPr/>
        </p:nvSpPr>
        <p:spPr bwMode="auto">
          <a:xfrm>
            <a:off x="640080" y="2194560"/>
            <a:ext cx="10972079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100" b="0" i="1" strike="noStrike" spc="-1">
                <a:solidFill>
                  <a:srgbClr val="555555"/>
                </a:solidFill>
                <a:latin typeface="Times New Roman"/>
              </a:rPr>
              <a:t>Определения pre-XDR/XDR соответствуют обновлённой классификации ВОЗ (2021)</a:t>
            </a:r>
            <a:endParaRPr lang="ru-RU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502894" name="TextBox 22"/>
          <p:cNvSpPr/>
          <p:nvPr/>
        </p:nvSpPr>
        <p:spPr bwMode="auto">
          <a:xfrm>
            <a:off x="640080" y="2478600"/>
            <a:ext cx="10972079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800" b="1" strike="noStrike" spc="-1">
                <a:solidFill>
                  <a:srgbClr val="2E5EA8"/>
                </a:solidFill>
                <a:latin typeface="Times New Roman"/>
              </a:rPr>
              <a:t>Устойчивость по 18 противотуберкулёзным препаратам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292095" name="TextBox 23"/>
          <p:cNvSpPr/>
          <p:nvPr/>
        </p:nvSpPr>
        <p:spPr bwMode="auto">
          <a:xfrm>
            <a:off x="640080" y="288036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Isoniazid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3813988" name="TextBox 24"/>
          <p:cNvSpPr/>
          <p:nvPr/>
        </p:nvSpPr>
        <p:spPr bwMode="auto">
          <a:xfrm>
            <a:off x="2194560" y="288036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25,848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386618" name="Rectangle 25"/>
          <p:cNvSpPr/>
          <p:nvPr/>
        </p:nvSpPr>
        <p:spPr bwMode="auto">
          <a:xfrm>
            <a:off x="2926080" y="2926080"/>
            <a:ext cx="2102400" cy="18216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5649527" name="TextBox 26"/>
          <p:cNvSpPr/>
          <p:nvPr/>
        </p:nvSpPr>
        <p:spPr bwMode="auto">
          <a:xfrm>
            <a:off x="5120640" y="288036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40.9%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137315" name="TextBox 27"/>
          <p:cNvSpPr/>
          <p:nvPr/>
        </p:nvSpPr>
        <p:spPr bwMode="auto">
          <a:xfrm>
            <a:off x="640080" y="327348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Rifampicin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755629" name="TextBox 28"/>
          <p:cNvSpPr/>
          <p:nvPr/>
        </p:nvSpPr>
        <p:spPr bwMode="auto">
          <a:xfrm>
            <a:off x="2194560" y="327348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21,933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655320" name="Rectangle 29"/>
          <p:cNvSpPr/>
          <p:nvPr/>
        </p:nvSpPr>
        <p:spPr bwMode="auto">
          <a:xfrm>
            <a:off x="2926080" y="3319200"/>
            <a:ext cx="1783800" cy="18216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3098800" name="TextBox 30"/>
          <p:cNvSpPr/>
          <p:nvPr/>
        </p:nvSpPr>
        <p:spPr bwMode="auto">
          <a:xfrm>
            <a:off x="5120640" y="327348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34.7%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129203" name="TextBox 31"/>
          <p:cNvSpPr/>
          <p:nvPr/>
        </p:nvSpPr>
        <p:spPr bwMode="auto">
          <a:xfrm>
            <a:off x="640080" y="366660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Streptomycin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104776" name="TextBox 32"/>
          <p:cNvSpPr/>
          <p:nvPr/>
        </p:nvSpPr>
        <p:spPr bwMode="auto">
          <a:xfrm>
            <a:off x="2194560" y="366660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21,890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513296" name="Rectangle 33"/>
          <p:cNvSpPr/>
          <p:nvPr/>
        </p:nvSpPr>
        <p:spPr bwMode="auto">
          <a:xfrm>
            <a:off x="2926080" y="3712320"/>
            <a:ext cx="1780200" cy="18216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7700869" name="TextBox 34"/>
          <p:cNvSpPr/>
          <p:nvPr/>
        </p:nvSpPr>
        <p:spPr bwMode="auto">
          <a:xfrm>
            <a:off x="5120640" y="366660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34.6%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547048" name="TextBox 35"/>
          <p:cNvSpPr/>
          <p:nvPr/>
        </p:nvSpPr>
        <p:spPr bwMode="auto">
          <a:xfrm>
            <a:off x="640080" y="406008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Pyrazinamide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029808" name="TextBox 36"/>
          <p:cNvSpPr/>
          <p:nvPr/>
        </p:nvSpPr>
        <p:spPr bwMode="auto">
          <a:xfrm>
            <a:off x="2194560" y="406008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18,190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339019" name="Rectangle 37"/>
          <p:cNvSpPr/>
          <p:nvPr/>
        </p:nvSpPr>
        <p:spPr bwMode="auto">
          <a:xfrm>
            <a:off x="2926080" y="4105800"/>
            <a:ext cx="1479240" cy="18216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7369189" name="TextBox 38"/>
          <p:cNvSpPr/>
          <p:nvPr/>
        </p:nvSpPr>
        <p:spPr bwMode="auto">
          <a:xfrm>
            <a:off x="5120640" y="406008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28.8%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557906" name="TextBox 39"/>
          <p:cNvSpPr/>
          <p:nvPr/>
        </p:nvSpPr>
        <p:spPr bwMode="auto">
          <a:xfrm>
            <a:off x="640080" y="445320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Ethambutol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83121" name="TextBox 40"/>
          <p:cNvSpPr/>
          <p:nvPr/>
        </p:nvSpPr>
        <p:spPr bwMode="auto">
          <a:xfrm>
            <a:off x="2194560" y="445320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17,683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645121" name="Rectangle 41"/>
          <p:cNvSpPr/>
          <p:nvPr/>
        </p:nvSpPr>
        <p:spPr bwMode="auto">
          <a:xfrm>
            <a:off x="2926080" y="4498920"/>
            <a:ext cx="1438200" cy="18216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2289507" name="TextBox 42"/>
          <p:cNvSpPr/>
          <p:nvPr/>
        </p:nvSpPr>
        <p:spPr bwMode="auto">
          <a:xfrm>
            <a:off x="5120640" y="445320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28.0%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290356" name="TextBox 43"/>
          <p:cNvSpPr/>
          <p:nvPr/>
        </p:nvSpPr>
        <p:spPr bwMode="auto">
          <a:xfrm>
            <a:off x="640080" y="484632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Ethionamide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1428757" name="TextBox 44"/>
          <p:cNvSpPr/>
          <p:nvPr/>
        </p:nvSpPr>
        <p:spPr bwMode="auto">
          <a:xfrm>
            <a:off x="2194560" y="484632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13,447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7335243" name="Rectangle 45"/>
          <p:cNvSpPr/>
          <p:nvPr/>
        </p:nvSpPr>
        <p:spPr bwMode="auto">
          <a:xfrm>
            <a:off x="2926080" y="4892039"/>
            <a:ext cx="1093320" cy="182160"/>
          </a:xfrm>
          <a:prstGeom prst="rect">
            <a:avLst/>
          </a:prstGeom>
          <a:solidFill>
            <a:srgbClr val="E67E22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9369812" name="TextBox 46"/>
          <p:cNvSpPr/>
          <p:nvPr/>
        </p:nvSpPr>
        <p:spPr bwMode="auto">
          <a:xfrm>
            <a:off x="5120640" y="484632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21.3%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9377795" name="TextBox 47"/>
          <p:cNvSpPr/>
          <p:nvPr/>
        </p:nvSpPr>
        <p:spPr bwMode="auto">
          <a:xfrm>
            <a:off x="640080" y="523944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Moxifloxacin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2789036" name="TextBox 48"/>
          <p:cNvSpPr/>
          <p:nvPr/>
        </p:nvSpPr>
        <p:spPr bwMode="auto">
          <a:xfrm>
            <a:off x="2194560" y="523944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8,512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048868" name="Rectangle 49"/>
          <p:cNvSpPr/>
          <p:nvPr/>
        </p:nvSpPr>
        <p:spPr bwMode="auto">
          <a:xfrm>
            <a:off x="2926080" y="5285160"/>
            <a:ext cx="691920" cy="18216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437577" name="TextBox 50"/>
          <p:cNvSpPr/>
          <p:nvPr/>
        </p:nvSpPr>
        <p:spPr bwMode="auto">
          <a:xfrm>
            <a:off x="5120640" y="523944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13.5%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511663" name="TextBox 51"/>
          <p:cNvSpPr/>
          <p:nvPr/>
        </p:nvSpPr>
        <p:spPr bwMode="auto">
          <a:xfrm>
            <a:off x="640080" y="563256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Levofloxacin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803840" name="TextBox 52"/>
          <p:cNvSpPr/>
          <p:nvPr/>
        </p:nvSpPr>
        <p:spPr bwMode="auto">
          <a:xfrm>
            <a:off x="2194560" y="563256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8,512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790203" name="Rectangle 53"/>
          <p:cNvSpPr/>
          <p:nvPr/>
        </p:nvSpPr>
        <p:spPr bwMode="auto">
          <a:xfrm>
            <a:off x="2926080" y="5678280"/>
            <a:ext cx="691920" cy="18216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3710313" name="TextBox 54"/>
          <p:cNvSpPr/>
          <p:nvPr/>
        </p:nvSpPr>
        <p:spPr bwMode="auto">
          <a:xfrm>
            <a:off x="5120640" y="563256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13.5%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0162827" name="TextBox 55"/>
          <p:cNvSpPr/>
          <p:nvPr/>
        </p:nvSpPr>
        <p:spPr bwMode="auto">
          <a:xfrm>
            <a:off x="640080" y="6026039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Kanamycin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924302" name="TextBox 56"/>
          <p:cNvSpPr/>
          <p:nvPr/>
        </p:nvSpPr>
        <p:spPr bwMode="auto">
          <a:xfrm>
            <a:off x="2194560" y="6026039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6,032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1841093" name="Rectangle 57"/>
          <p:cNvSpPr/>
          <p:nvPr/>
        </p:nvSpPr>
        <p:spPr bwMode="auto">
          <a:xfrm>
            <a:off x="2926080" y="6071760"/>
            <a:ext cx="489960" cy="18216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8983866" name="TextBox 58"/>
          <p:cNvSpPr/>
          <p:nvPr/>
        </p:nvSpPr>
        <p:spPr bwMode="auto">
          <a:xfrm>
            <a:off x="5120640" y="6026039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9.5%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264620" name="TextBox 59"/>
          <p:cNvSpPr/>
          <p:nvPr/>
        </p:nvSpPr>
        <p:spPr bwMode="auto">
          <a:xfrm>
            <a:off x="6400800" y="288036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Capreomycin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009855" name="TextBox 60"/>
          <p:cNvSpPr/>
          <p:nvPr/>
        </p:nvSpPr>
        <p:spPr bwMode="auto">
          <a:xfrm>
            <a:off x="7955280" y="288036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3,857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826081" name="Rectangle 61"/>
          <p:cNvSpPr/>
          <p:nvPr/>
        </p:nvSpPr>
        <p:spPr bwMode="auto">
          <a:xfrm>
            <a:off x="8686800" y="2926080"/>
            <a:ext cx="313200" cy="18216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9343079" name="TextBox 62"/>
          <p:cNvSpPr/>
          <p:nvPr/>
        </p:nvSpPr>
        <p:spPr bwMode="auto">
          <a:xfrm>
            <a:off x="10881360" y="288036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6.1%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4386927" name="TextBox 63"/>
          <p:cNvSpPr/>
          <p:nvPr/>
        </p:nvSpPr>
        <p:spPr bwMode="auto">
          <a:xfrm>
            <a:off x="6400800" y="327348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Amikacin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7601786" name="TextBox 64"/>
          <p:cNvSpPr/>
          <p:nvPr/>
        </p:nvSpPr>
        <p:spPr bwMode="auto">
          <a:xfrm>
            <a:off x="7955280" y="327348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3,649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0279650" name="Rectangle 65"/>
          <p:cNvSpPr/>
          <p:nvPr/>
        </p:nvSpPr>
        <p:spPr bwMode="auto">
          <a:xfrm>
            <a:off x="8686800" y="3319200"/>
            <a:ext cx="296280" cy="182160"/>
          </a:xfrm>
          <a:prstGeom prst="rect">
            <a:avLst/>
          </a:prstGeom>
          <a:solidFill>
            <a:srgbClr val="3A7CB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610647" name="TextBox 66"/>
          <p:cNvSpPr/>
          <p:nvPr/>
        </p:nvSpPr>
        <p:spPr bwMode="auto">
          <a:xfrm>
            <a:off x="10881360" y="327348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5.8%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273697" name="TextBox 67"/>
          <p:cNvSpPr/>
          <p:nvPr/>
        </p:nvSpPr>
        <p:spPr bwMode="auto">
          <a:xfrm>
            <a:off x="6400800" y="366660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PAS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303146" name="TextBox 68"/>
          <p:cNvSpPr/>
          <p:nvPr/>
        </p:nvSpPr>
        <p:spPr bwMode="auto">
          <a:xfrm>
            <a:off x="7955280" y="366660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1,761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558210" name="Rectangle 69"/>
          <p:cNvSpPr/>
          <p:nvPr/>
        </p:nvSpPr>
        <p:spPr bwMode="auto">
          <a:xfrm>
            <a:off x="8686800" y="3712320"/>
            <a:ext cx="14256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151399" name="TextBox 70"/>
          <p:cNvSpPr/>
          <p:nvPr/>
        </p:nvSpPr>
        <p:spPr bwMode="auto">
          <a:xfrm>
            <a:off x="10881360" y="366660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2.8%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26657" name="TextBox 71"/>
          <p:cNvSpPr/>
          <p:nvPr/>
        </p:nvSpPr>
        <p:spPr bwMode="auto">
          <a:xfrm>
            <a:off x="6400800" y="406008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Bedaquiline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7444496" name="TextBox 72"/>
          <p:cNvSpPr/>
          <p:nvPr/>
        </p:nvSpPr>
        <p:spPr bwMode="auto">
          <a:xfrm>
            <a:off x="7955280" y="406008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692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941739" name="Rectangle 73"/>
          <p:cNvSpPr/>
          <p:nvPr/>
        </p:nvSpPr>
        <p:spPr bwMode="auto">
          <a:xfrm>
            <a:off x="8686800" y="4105800"/>
            <a:ext cx="5544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713052" name="TextBox 74"/>
          <p:cNvSpPr/>
          <p:nvPr/>
        </p:nvSpPr>
        <p:spPr bwMode="auto">
          <a:xfrm>
            <a:off x="10881360" y="406008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1.1%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323929" name="TextBox 75"/>
          <p:cNvSpPr/>
          <p:nvPr/>
        </p:nvSpPr>
        <p:spPr bwMode="auto">
          <a:xfrm>
            <a:off x="6400800" y="445320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Clofazimine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846283" name="TextBox 76"/>
          <p:cNvSpPr/>
          <p:nvPr/>
        </p:nvSpPr>
        <p:spPr bwMode="auto">
          <a:xfrm>
            <a:off x="7955280" y="445320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676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0833297" name="Rectangle 77"/>
          <p:cNvSpPr/>
          <p:nvPr/>
        </p:nvSpPr>
        <p:spPr bwMode="auto">
          <a:xfrm>
            <a:off x="8686800" y="4498920"/>
            <a:ext cx="5436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8201170" name="TextBox 78"/>
          <p:cNvSpPr/>
          <p:nvPr/>
        </p:nvSpPr>
        <p:spPr bwMode="auto">
          <a:xfrm>
            <a:off x="10881360" y="445320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1.1%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654081" name="TextBox 79"/>
          <p:cNvSpPr/>
          <p:nvPr/>
        </p:nvSpPr>
        <p:spPr bwMode="auto">
          <a:xfrm>
            <a:off x="6400800" y="484632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Delamanid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439473" name="TextBox 80"/>
          <p:cNvSpPr/>
          <p:nvPr/>
        </p:nvSpPr>
        <p:spPr bwMode="auto">
          <a:xfrm>
            <a:off x="7955280" y="484632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290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055674" name="Rectangle 81"/>
          <p:cNvSpPr/>
          <p:nvPr/>
        </p:nvSpPr>
        <p:spPr bwMode="auto">
          <a:xfrm>
            <a:off x="8686800" y="4892039"/>
            <a:ext cx="3600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0484610" name="TextBox 82"/>
          <p:cNvSpPr/>
          <p:nvPr/>
        </p:nvSpPr>
        <p:spPr bwMode="auto">
          <a:xfrm>
            <a:off x="10881360" y="484632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0.5%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857130" name="TextBox 83"/>
          <p:cNvSpPr/>
          <p:nvPr/>
        </p:nvSpPr>
        <p:spPr bwMode="auto">
          <a:xfrm>
            <a:off x="6400800" y="523944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Linezolid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292082" name="TextBox 84"/>
          <p:cNvSpPr/>
          <p:nvPr/>
        </p:nvSpPr>
        <p:spPr bwMode="auto">
          <a:xfrm>
            <a:off x="7955280" y="523944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242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2138316" name="Rectangle 85"/>
          <p:cNvSpPr/>
          <p:nvPr/>
        </p:nvSpPr>
        <p:spPr bwMode="auto">
          <a:xfrm>
            <a:off x="8686800" y="5285160"/>
            <a:ext cx="3600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481475" name="TextBox 86"/>
          <p:cNvSpPr/>
          <p:nvPr/>
        </p:nvSpPr>
        <p:spPr bwMode="auto">
          <a:xfrm>
            <a:off x="10881360" y="523944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0.4%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837543" name="TextBox 87"/>
          <p:cNvSpPr/>
          <p:nvPr/>
        </p:nvSpPr>
        <p:spPr bwMode="auto">
          <a:xfrm>
            <a:off x="6400800" y="5632560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Pretomanid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4429367" name="TextBox 88"/>
          <p:cNvSpPr/>
          <p:nvPr/>
        </p:nvSpPr>
        <p:spPr bwMode="auto">
          <a:xfrm>
            <a:off x="7955280" y="5632560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241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682649" name="Rectangle 89"/>
          <p:cNvSpPr/>
          <p:nvPr/>
        </p:nvSpPr>
        <p:spPr bwMode="auto">
          <a:xfrm>
            <a:off x="8686800" y="5678280"/>
            <a:ext cx="3600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0792154" name="TextBox 90"/>
          <p:cNvSpPr/>
          <p:nvPr/>
        </p:nvSpPr>
        <p:spPr bwMode="auto">
          <a:xfrm>
            <a:off x="10881360" y="5632560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0.4%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717326" name="TextBox 91"/>
          <p:cNvSpPr/>
          <p:nvPr/>
        </p:nvSpPr>
        <p:spPr bwMode="auto">
          <a:xfrm>
            <a:off x="6400800" y="6026039"/>
            <a:ext cx="1508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2D2D2D"/>
                </a:solidFill>
                <a:latin typeface="Times New Roman"/>
              </a:rPr>
              <a:t>Cycloserine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3267969" name="TextBox 92"/>
          <p:cNvSpPr/>
          <p:nvPr/>
        </p:nvSpPr>
        <p:spPr bwMode="auto">
          <a:xfrm>
            <a:off x="7955280" y="6026039"/>
            <a:ext cx="685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1" strike="noStrike" spc="-1">
                <a:solidFill>
                  <a:srgbClr val="2D2D2D"/>
                </a:solidFill>
                <a:latin typeface="Times New Roman"/>
              </a:rPr>
              <a:t>231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92762" name="Rectangle 93"/>
          <p:cNvSpPr/>
          <p:nvPr/>
        </p:nvSpPr>
        <p:spPr bwMode="auto">
          <a:xfrm>
            <a:off x="8686800" y="6071760"/>
            <a:ext cx="36000" cy="18216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550421" name="TextBox 94"/>
          <p:cNvSpPr/>
          <p:nvPr/>
        </p:nvSpPr>
        <p:spPr bwMode="auto">
          <a:xfrm>
            <a:off x="10881360" y="6026039"/>
            <a:ext cx="6393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rgbClr val="555555"/>
                </a:solidFill>
                <a:latin typeface="Times New Roman"/>
              </a:rPr>
              <a:t>0.4%</a:t>
            </a:r>
            <a:endParaRPr lang="ru-RU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351961" name="TextBox 95"/>
          <p:cNvSpPr/>
          <p:nvPr/>
        </p:nvSpPr>
        <p:spPr bwMode="auto">
          <a:xfrm>
            <a:off x="11221920" y="6492240"/>
            <a:ext cx="598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10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291741" name="Rectangle 1"/>
          <p:cNvSpPr/>
          <p:nvPr/>
        </p:nvSpPr>
        <p:spPr bwMode="auto">
          <a:xfrm>
            <a:off x="0" y="0"/>
            <a:ext cx="12191040" cy="54000"/>
          </a:xfrm>
          <a:prstGeom prst="rect">
            <a:avLst/>
          </a:prstGeom>
          <a:solidFill>
            <a:srgbClr val="1A3C6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1524767" name="TextBox 2"/>
          <p:cNvSpPr/>
          <p:nvPr/>
        </p:nvSpPr>
        <p:spPr bwMode="auto">
          <a:xfrm>
            <a:off x="4689360" y="228600"/>
            <a:ext cx="24163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  <a:defRPr/>
            </a:pPr>
            <a:r>
              <a:rPr lang="en-US" sz="3200" b="1" strike="noStrike" spc="-1">
                <a:solidFill>
                  <a:srgbClr val="1A3C6E"/>
                </a:solidFill>
                <a:latin typeface="Times New Roman"/>
              </a:rPr>
              <a:t>Заключение</a:t>
            </a: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294942" name="Rectangle 3"/>
          <p:cNvSpPr/>
          <p:nvPr/>
        </p:nvSpPr>
        <p:spPr bwMode="auto">
          <a:xfrm>
            <a:off x="640080" y="868680"/>
            <a:ext cx="10514880" cy="22320"/>
          </a:xfrm>
          <a:prstGeom prst="rect">
            <a:avLst/>
          </a:prstGeom>
          <a:solidFill>
            <a:srgbClr val="2E5E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1960" rIns="90000" bIns="-21960" anchor="ctr">
            <a:noAutofit/>
          </a:bodyPr>
          <a:p>
            <a:pPr algn="ctr" defTabSz="4572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7414397" name="TextBox 4"/>
          <p:cNvSpPr/>
          <p:nvPr/>
        </p:nvSpPr>
        <p:spPr bwMode="auto">
          <a:xfrm>
            <a:off x="640080" y="1143000"/>
            <a:ext cx="10519199" cy="3594924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1.  Разработан Nextflow-пайплайн TB-Lite (8 этапов, 26 процессов)</a:t>
            </a:r>
            <a:br>
              <a:rPr sz="1800"/>
            </a:b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для комплексного анализа данных WGS M. tuberculosis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2.  Реализована трёхуровневая фильтрация (покрытие ≥ 30X, выравнивание ≥ 80%, контаминация &lt; 5%)</a:t>
            </a:r>
            <a:br>
              <a:rPr sz="1800"/>
            </a:b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и модуль детекции смешанных инфекций TB-Mix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3.  Пайплайн объединяет типирование (TBLG, SpoTyping), оценку устойчивости (TB-Profiler), анализ делеций (RD) и локализацию IS6110 (ISMapper)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4.  Апробация на &gt;80 000 геномов NCBI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5.  Преобладание линий L4 (46,3%) и L2 (29,1%); устойчивость проанализирована по 18 препаратам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  <a:defRPr/>
            </a:pPr>
            <a:r>
              <a:rPr lang="en-US" sz="1800" b="0" strike="noStrike" spc="-1">
                <a:solidFill>
                  <a:srgbClr val="2D2D2D"/>
                </a:solidFill>
                <a:latin typeface="Times New Roman"/>
              </a:rPr>
              <a:t>6.  </a:t>
            </a:r>
            <a:r>
              <a:rPr lang="ru-RU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Рассчитана </a:t>
            </a:r>
            <a:r>
              <a:rPr lang="en-US" sz="1800" b="0" i="0" u="none" strike="noStrike" cap="none" spc="0">
                <a:solidFill>
                  <a:srgbClr val="2D2D2D"/>
                </a:solidFill>
                <a:latin typeface="Times New Roman"/>
                <a:ea typeface="Times New Roman"/>
                <a:cs typeface="Times New Roman"/>
              </a:rPr>
              <a:t>эффективность пайплайна и его применимость для популяционно-геномных и эпидемиологических исследований.</a:t>
            </a: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70307" name="TextBox 7"/>
          <p:cNvSpPr/>
          <p:nvPr/>
        </p:nvSpPr>
        <p:spPr bwMode="auto">
          <a:xfrm>
            <a:off x="11224800" y="6492240"/>
            <a:ext cx="592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rgbClr val="999999"/>
                </a:solidFill>
                <a:latin typeface="Times New Roman"/>
              </a:rPr>
              <a:t>11 / 11</a:t>
            </a:r>
            <a:endParaRPr lang="ru-RU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027258" name="TextBox 1"/>
          <p:cNvSpPr/>
          <p:nvPr/>
        </p:nvSpPr>
        <p:spPr bwMode="auto">
          <a:xfrm>
            <a:off x="570636" y="424721"/>
            <a:ext cx="10520639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50000"/>
              </a:lnSpc>
              <a:defRPr/>
            </a:pPr>
            <a:r>
              <a:rPr lang="en-US" sz="4800" b="1" strike="noStrike" spc="-1">
                <a:solidFill>
                  <a:srgbClr val="1A3C6E"/>
                </a:solidFill>
                <a:latin typeface="Times New Roman"/>
              </a:rPr>
              <a:t>Спасибо за внимание</a:t>
            </a:r>
            <a:r>
              <a:rPr lang="en-US" sz="4800" b="1" strike="noStrike" spc="0">
                <a:solidFill>
                  <a:srgbClr val="1A3C6E"/>
                </a:solidFill>
                <a:latin typeface="Times New Roman"/>
              </a:rPr>
              <a:t>!</a:t>
            </a:r>
            <a:endParaRPr lang="en-US" sz="4800" b="1" strike="noStrike" spc="0">
              <a:solidFill>
                <a:srgbClr val="1A3C6E"/>
              </a:solidFill>
              <a:latin typeface="Times New Roman"/>
            </a:endParaRPr>
          </a:p>
          <a:p>
            <a:pPr algn="ctr" defTabSz="457200">
              <a:lnSpc>
                <a:spcPct val="150000"/>
              </a:lnSpc>
              <a:defRPr/>
            </a:pPr>
            <a:r>
              <a:rPr lang="en-US" sz="28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https://github.com/KiselevSI/tb-lite</a:t>
            </a:r>
            <a:endParaRPr lang="ru-RU" sz="2800" b="0" strike="noStrike" spc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2243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87831" y="2252441"/>
            <a:ext cx="4286250" cy="4286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dc:language>ru-RU</dc:language>
  <cp:lastModifiedBy/>
  <cp:revision>9</cp:revision>
  <dcterms:created xsi:type="dcterms:W3CDTF">2013-01-27T09:14:16Z</dcterms:created>
  <dcterms:modified xsi:type="dcterms:W3CDTF">2026-03-30T09:06:50Z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