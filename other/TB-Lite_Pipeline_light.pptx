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2834640"/>
          </a:xfrm>
          <a:prstGeom prst="ellipse">
            <a:avLst/>
          </a:prstGeom>
          <a:solidFill>
            <a:srgbClr val="F4ECD4"/>
          </a:solidFill>
          <a:ln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926080" cy="2286000"/>
          </a:xfrm>
          <a:prstGeom prst="ellipse">
            <a:avLst/>
          </a:prstGeom>
          <a:solidFill>
            <a:srgbClr val="D7E9E5"/>
          </a:solidFill>
          <a:ln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6D635B"/>
                </a:solidFill>
                <a:latin typeface="Liberation Serif"/>
              </a:rPr>
              <a:t>ТИТУЛЬНЫЙ ЛИСТ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1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11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TB-lite | конференционная версия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79" y="320040"/>
            <a:ext cx="3840480" cy="2743200"/>
          </a:xfrm>
          <a:prstGeom prst="ellipse">
            <a:avLst/>
          </a:prstGeom>
          <a:solidFill>
            <a:srgbClr val="D7E9E5"/>
          </a:solidFill>
          <a:ln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0" y="1097280"/>
            <a:ext cx="2194560" cy="1828800"/>
          </a:xfrm>
          <a:prstGeom prst="ellipse">
            <a:avLst/>
          </a:prstGeom>
          <a:solidFill>
            <a:srgbClr val="F3E1DA"/>
          </a:solidFill>
          <a:ln>
            <a:solidFill>
              <a:srgbClr val="F3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841248"/>
            <a:ext cx="73152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400" b="1" i="0">
                <a:solidFill>
                  <a:srgbClr val="24564D"/>
                </a:solidFill>
                <a:latin typeface="Liberation Serif"/>
              </a:rPr>
              <a:t>TB-lite</a:t>
            </a:r>
          </a:p>
          <a:p>
            <a:pPr algn="l">
              <a:spcAft>
                <a:spcPts val="100"/>
              </a:spcAft>
            </a:pPr>
            <a:r>
              <a:rPr sz="2100" b="0" i="0">
                <a:solidFill>
                  <a:srgbClr val="2F2A26"/>
                </a:solidFill>
                <a:latin typeface="Liberation Serif"/>
              </a:rPr>
              <a:t>воспроизводимый Nextflow-пайплайн для анализа геномов</a:t>
            </a:r>
          </a:p>
          <a:p>
            <a:pPr algn="l">
              <a:spcAft>
                <a:spcPts val="0"/>
              </a:spcAft>
            </a:pPr>
            <a:r>
              <a:rPr sz="2200" b="0" i="1">
                <a:solidFill>
                  <a:srgbClr val="2F2A26"/>
                </a:solidFill>
                <a:latin typeface="Liberation Serif"/>
              </a:rPr>
              <a:t>Mycobacterium tuberculosis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2487168"/>
            <a:ext cx="6080760" cy="1152144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670048"/>
            <a:ext cx="5669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2F2A26"/>
                </a:solidFill>
                <a:latin typeface="Liberation Serif"/>
              </a:rPr>
              <a:t>С. И. Киселев, Е. А. Шитиков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D635B"/>
                </a:solidFill>
                <a:latin typeface="Liberation Serif"/>
              </a:rPr>
              <a:t>МФТИ; ФНКЦ ФХМ им. Ю.М. Лопухина ФМБА России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53035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2F6E62"/>
                </a:solidFill>
                <a:latin typeface="Liberation Serif"/>
              </a:rPr>
              <a:t>Конференционная презентация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29 марта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3794760"/>
            <a:ext cx="1175004" cy="329184"/>
          </a:xfrm>
          <a:prstGeom prst="roundRect">
            <a:avLst/>
          </a:prstGeom>
          <a:solidFill>
            <a:srgbClr val="D7E9E5"/>
          </a:solidFill>
          <a:ln w="10160"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3831336"/>
            <a:ext cx="11750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4564D"/>
                </a:solidFill>
                <a:latin typeface="Liberation Serif"/>
              </a:rPr>
              <a:t>Nextflow DSL2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500" y="3794760"/>
            <a:ext cx="1051560" cy="329184"/>
          </a:xfrm>
          <a:prstGeom prst="roundRect">
            <a:avLst/>
          </a:prstGeom>
          <a:solidFill>
            <a:srgbClr val="F4ECD4"/>
          </a:solidFill>
          <a:ln w="10160"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2500" y="383133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F2A26"/>
                </a:solidFill>
                <a:latin typeface="Liberation Serif"/>
              </a:rPr>
              <a:t>WGS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52076" y="3794760"/>
            <a:ext cx="1051560" cy="329184"/>
          </a:xfrm>
          <a:prstGeom prst="roundRect">
            <a:avLst/>
          </a:prstGeom>
          <a:solidFill>
            <a:srgbClr val="F3E1DA"/>
          </a:solidFill>
          <a:ln w="10160">
            <a:solidFill>
              <a:srgbClr val="F3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2076" y="3831336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B45C3C"/>
                </a:solidFill>
                <a:latin typeface="Liberation Serif"/>
              </a:rPr>
              <a:t>QC -&gt; DR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31651" y="3794760"/>
            <a:ext cx="1719072" cy="329184"/>
          </a:xfrm>
          <a:prstGeom prst="roundRect">
            <a:avLst/>
          </a:prstGeom>
          <a:solidFill>
            <a:srgbClr val="F1EAE1"/>
          </a:solidFill>
          <a:ln w="10160"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1651" y="3831336"/>
            <a:ext cx="17190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2F2A26"/>
                </a:solidFill>
                <a:latin typeface="Liberation Serif"/>
              </a:rPr>
              <a:t>Docker / Singularity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4407408"/>
            <a:ext cx="4069080" cy="105156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9792" y="4572000"/>
            <a:ext cx="3657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800" b="0" i="0">
                <a:solidFill>
                  <a:srgbClr val="2F2A26"/>
                </a:solidFill>
                <a:latin typeface="Liberation Serif"/>
              </a:rPr>
              <a:t>Один запуск: FASTQ -&gt; QC -&gt; типирование -&gt; устойчивость -&gt; итоговые таблицы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2834640"/>
          </a:xfrm>
          <a:prstGeom prst="ellipse">
            <a:avLst/>
          </a:prstGeom>
          <a:solidFill>
            <a:srgbClr val="F4ECD4"/>
          </a:solidFill>
          <a:ln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926080" cy="2286000"/>
          </a:xfrm>
          <a:prstGeom prst="ellipse">
            <a:avLst/>
          </a:prstGeom>
          <a:solidFill>
            <a:srgbClr val="D7E9E5"/>
          </a:solidFill>
          <a:ln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6D635B"/>
                </a:solidFill>
                <a:latin typeface="Liberation Serif"/>
              </a:rPr>
              <a:t>ВВОДНАЯ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2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11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TB-lite | конференционная версия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747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F2A26"/>
                </a:solidFill>
                <a:latin typeface="Liberation Serif"/>
              </a:rPr>
              <a:t>Проблема, актуальность, новизна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3429000" cy="224028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3429000" cy="91440"/>
          </a:xfrm>
          <a:prstGeom prst="rect">
            <a:avLst/>
          </a:prstGeom>
          <a:solidFill>
            <a:srgbClr val="B45C3C"/>
          </a:solidFill>
          <a:ln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627632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F2A26"/>
                </a:solidFill>
                <a:latin typeface="Liberation Serif"/>
              </a:rPr>
              <a:t>Проблема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1993392"/>
            <a:ext cx="312724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WGS-данные информативны, но стандартный анализ распадается на набор разрозненных утилит и промежуточных файлов.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417320"/>
            <a:ext cx="3429000" cy="224028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417320"/>
            <a:ext cx="3429000" cy="91440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1627632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F2A26"/>
                </a:solidFill>
                <a:latin typeface="Liberation Serif"/>
              </a:rPr>
              <a:t>Актуальность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1993392"/>
            <a:ext cx="312724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Для рутинной работы с M. tuberculosis нужны воспроизводимость, понятные критерии QC и единый формат результата.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417320"/>
            <a:ext cx="3429000" cy="224028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417320"/>
            <a:ext cx="3429000" cy="91440"/>
          </a:xfrm>
          <a:prstGeom prst="rect">
            <a:avLst/>
          </a:prstGeom>
          <a:solidFill>
            <a:srgbClr val="C6973B"/>
          </a:solidFill>
          <a:ln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21624" y="1627632"/>
            <a:ext cx="31272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F2A26"/>
                </a:solidFill>
                <a:latin typeface="Liberation Serif"/>
              </a:rPr>
              <a:t>Новизна TB-lite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1993392"/>
            <a:ext cx="312724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Пайплайн объединяет QC, variant calling, генотипирование, лекарственную устойчивость, RD-анализ и IS6110 в одном запуске.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069080"/>
            <a:ext cx="10744200" cy="1353312"/>
          </a:xfrm>
          <a:prstGeom prst="roundRect">
            <a:avLst/>
          </a:prstGeom>
          <a:solidFill>
            <a:srgbClr val="F1EAE1"/>
          </a:solidFill>
          <a:ln w="15240"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10378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24564D"/>
                </a:solidFill>
                <a:latin typeface="Liberation Serif"/>
              </a:rPr>
              <a:t>TB-lite закрывает весь аналитический путь от сырых ридов до стандартизованного отчета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773168"/>
            <a:ext cx="1389888" cy="438912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855464"/>
            <a:ext cx="13898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F2A26"/>
                </a:solidFill>
                <a:latin typeface="Liberation Serif"/>
              </a:rPr>
              <a:t>FASTQ</a:t>
            </a:r>
          </a:p>
        </p:txBody>
      </p:sp>
      <p:sp>
        <p:nvSpPr>
          <p:cNvPr id="25" name="Chevron 24"/>
          <p:cNvSpPr/>
          <p:nvPr/>
        </p:nvSpPr>
        <p:spPr>
          <a:xfrm>
            <a:off x="2560320" y="4700016"/>
            <a:ext cx="256032" cy="566928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88920" y="4773168"/>
            <a:ext cx="1389888" cy="438912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4855464"/>
            <a:ext cx="13898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F2A26"/>
                </a:solidFill>
                <a:latin typeface="Liberation Serif"/>
              </a:rPr>
              <a:t>QC</a:t>
            </a:r>
          </a:p>
        </p:txBody>
      </p:sp>
      <p:sp>
        <p:nvSpPr>
          <p:cNvPr id="28" name="Chevron 27"/>
          <p:cNvSpPr/>
          <p:nvPr/>
        </p:nvSpPr>
        <p:spPr>
          <a:xfrm>
            <a:off x="4251960" y="4700016"/>
            <a:ext cx="256032" cy="566928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60" y="4773168"/>
            <a:ext cx="1389888" cy="438912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855464"/>
            <a:ext cx="13898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F2A26"/>
                </a:solidFill>
                <a:latin typeface="Liberation Serif"/>
              </a:rPr>
              <a:t>Mapping</a:t>
            </a:r>
          </a:p>
        </p:txBody>
      </p:sp>
      <p:sp>
        <p:nvSpPr>
          <p:cNvPr id="31" name="Chevron 30"/>
          <p:cNvSpPr/>
          <p:nvPr/>
        </p:nvSpPr>
        <p:spPr>
          <a:xfrm>
            <a:off x="5943600" y="4700016"/>
            <a:ext cx="256032" cy="566928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72200" y="4773168"/>
            <a:ext cx="1389888" cy="438912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855464"/>
            <a:ext cx="13898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F2A26"/>
                </a:solidFill>
                <a:latin typeface="Liberation Serif"/>
              </a:rPr>
              <a:t>Variants</a:t>
            </a:r>
          </a:p>
        </p:txBody>
      </p:sp>
      <p:sp>
        <p:nvSpPr>
          <p:cNvPr id="34" name="Chevron 33"/>
          <p:cNvSpPr/>
          <p:nvPr/>
        </p:nvSpPr>
        <p:spPr>
          <a:xfrm>
            <a:off x="7635240" y="4700016"/>
            <a:ext cx="256032" cy="566928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63840" y="4773168"/>
            <a:ext cx="1389888" cy="438912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4855464"/>
            <a:ext cx="13898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F2A26"/>
                </a:solidFill>
                <a:latin typeface="Liberation Serif"/>
              </a:rPr>
              <a:t>Lineage / DR</a:t>
            </a:r>
          </a:p>
        </p:txBody>
      </p:sp>
      <p:sp>
        <p:nvSpPr>
          <p:cNvPr id="37" name="Chevron 36"/>
          <p:cNvSpPr/>
          <p:nvPr/>
        </p:nvSpPr>
        <p:spPr>
          <a:xfrm>
            <a:off x="9326880" y="4700016"/>
            <a:ext cx="256032" cy="566928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555480" y="4773168"/>
            <a:ext cx="1389888" cy="438912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55480" y="4855464"/>
            <a:ext cx="13898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F2A26"/>
                </a:solidFill>
                <a:latin typeface="Liberation Serif"/>
              </a:rPr>
              <a:t>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2834640"/>
          </a:xfrm>
          <a:prstGeom prst="ellipse">
            <a:avLst/>
          </a:prstGeom>
          <a:solidFill>
            <a:srgbClr val="F4ECD4"/>
          </a:solidFill>
          <a:ln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926080" cy="2286000"/>
          </a:xfrm>
          <a:prstGeom prst="ellipse">
            <a:avLst/>
          </a:prstGeom>
          <a:solidFill>
            <a:srgbClr val="D7E9E5"/>
          </a:solidFill>
          <a:ln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6D635B"/>
                </a:solidFill>
                <a:latin typeface="Liberation Serif"/>
              </a:rPr>
              <a:t>ЦЕЛЬ И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3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11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TB-lite | конференционная версия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747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F2A26"/>
                </a:solidFill>
                <a:latin typeface="Liberation Serif"/>
              </a:rPr>
              <a:t>Цель и задачи работы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25880"/>
            <a:ext cx="10789920" cy="1005840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90472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4564D"/>
                </a:solidFill>
                <a:latin typeface="Liberation Serif"/>
              </a:rPr>
              <a:t>Цель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83080"/>
            <a:ext cx="101955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2000" b="1" i="0">
                <a:solidFill>
                  <a:srgbClr val="2F2A26"/>
                </a:solidFill>
                <a:latin typeface="Liberation Serif"/>
              </a:rPr>
              <a:t>Разработка и апробация пайплайна TB-lite для автоматизированной обработки данных WGS Mycobacterium tuberculosis.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697480"/>
            <a:ext cx="4800600" cy="15727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880360"/>
            <a:ext cx="475488" cy="475488"/>
          </a:xfrm>
          <a:prstGeom prst="ellipse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7F3EE"/>
                </a:solidFill>
                <a:latin typeface="Liberation Serif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862072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F2A26"/>
                </a:solidFill>
                <a:latin typeface="Liberation Serif"/>
              </a:rPr>
              <a:t>Задача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439826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Автоматизировать путь от FASTQ до итоговых таблиц и отчета MultiQC.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3328" y="2697480"/>
            <a:ext cx="4800600" cy="15727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54496" y="2880360"/>
            <a:ext cx="475488" cy="475488"/>
          </a:xfrm>
          <a:prstGeom prst="ellipse">
            <a:avLst/>
          </a:prstGeom>
          <a:solidFill>
            <a:srgbClr val="B45C3C"/>
          </a:solidFill>
          <a:ln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2926080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7F3EE"/>
                </a:solidFill>
                <a:latin typeface="Liberation Serif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862072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F2A26"/>
                </a:solidFill>
                <a:latin typeface="Liberation Serif"/>
              </a:rPr>
              <a:t>Задача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410712"/>
            <a:ext cx="439826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Объединить ключевые модули: TBLG, SpoTyping, TB-Profiler, RD-анализ и ISMapper.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645152"/>
            <a:ext cx="4800600" cy="15727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828032"/>
            <a:ext cx="475488" cy="475488"/>
          </a:xfrm>
          <a:prstGeom prst="ellipse">
            <a:avLst/>
          </a:prstGeom>
          <a:solidFill>
            <a:srgbClr val="C6973B"/>
          </a:solidFill>
          <a:ln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73752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7F3EE"/>
                </a:solidFill>
                <a:latin typeface="Liberation Serif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809744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F2A26"/>
                </a:solidFill>
                <a:latin typeface="Liberation Serif"/>
              </a:rPr>
              <a:t>Задача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58384"/>
            <a:ext cx="439826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Обеспечить переносимость запуска на local/HPC и в контейнеризованных средах.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53328" y="4645152"/>
            <a:ext cx="4800600" cy="15727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54496" y="4828032"/>
            <a:ext cx="475488" cy="475488"/>
          </a:xfrm>
          <a:prstGeom prst="ellipse">
            <a:avLst/>
          </a:prstGeom>
          <a:solidFill>
            <a:srgbClr val="3F7F50"/>
          </a:solidFill>
          <a:ln>
            <a:solidFill>
              <a:srgbClr val="3F7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4873752"/>
            <a:ext cx="47548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7F3EE"/>
                </a:solidFill>
                <a:latin typeface="Liberation Serif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6288" y="4809744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F2A26"/>
                </a:solidFill>
                <a:latin typeface="Liberation Serif"/>
              </a:rPr>
              <a:t>Задача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5358384"/>
            <a:ext cx="439826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Проверить воспроизводимость на большой публичной коллекции и тестовом прогоне.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2834640"/>
          </a:xfrm>
          <a:prstGeom prst="ellipse">
            <a:avLst/>
          </a:prstGeom>
          <a:solidFill>
            <a:srgbClr val="F4ECD4"/>
          </a:solidFill>
          <a:ln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926080" cy="2286000"/>
          </a:xfrm>
          <a:prstGeom prst="ellipse">
            <a:avLst/>
          </a:prstGeom>
          <a:solidFill>
            <a:srgbClr val="D7E9E5"/>
          </a:solidFill>
          <a:ln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6D635B"/>
                </a:solidFill>
                <a:latin typeface="Liberation Serif"/>
              </a:rPr>
              <a:t>МЕТОДЫ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4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11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TB-lite | конференционная версия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747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F2A26"/>
                </a:solidFill>
                <a:latin typeface="Liberation Serif"/>
              </a:rPr>
              <a:t>Методы и архитектура пайплайна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057400"/>
            <a:ext cx="1325880" cy="11155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3" y="2167128"/>
            <a:ext cx="11795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2A26"/>
                </a:solidFill>
                <a:latin typeface="Liberation Serif"/>
              </a:rPr>
              <a:t>FASTQ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3" y="2496312"/>
            <a:ext cx="11795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D635B"/>
                </a:solidFill>
                <a:latin typeface="Liberation Serif"/>
              </a:rPr>
              <a:t>paired-end / single-end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2057400"/>
            <a:ext cx="1325880" cy="73152"/>
          </a:xfrm>
          <a:prstGeom prst="rect">
            <a:avLst/>
          </a:prstGeom>
          <a:solidFill>
            <a:srgbClr val="B45C3C"/>
          </a:solidFill>
          <a:ln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1810512" y="2313432"/>
            <a:ext cx="228600" cy="502920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12264" y="2057400"/>
            <a:ext cx="1417320" cy="11155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85416" y="21671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2A26"/>
                </a:solidFill>
                <a:latin typeface="Liberation Serif"/>
              </a:rPr>
              <a:t>QC / trim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5416" y="2496312"/>
            <a:ext cx="12710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D635B"/>
                </a:solidFill>
                <a:latin typeface="Liberation Serif"/>
              </a:rPr>
              <a:t>FastQC, fastp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12264" y="2057400"/>
            <a:ext cx="1417320" cy="7315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575304" y="2313432"/>
            <a:ext cx="228600" cy="502920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77056" y="2057400"/>
            <a:ext cx="1417320" cy="11155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0208" y="21671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2A26"/>
                </a:solidFill>
                <a:latin typeface="Liberation Serif"/>
              </a:rPr>
              <a:t>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0208" y="2496312"/>
            <a:ext cx="12710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D635B"/>
                </a:solidFill>
                <a:latin typeface="Liberation Serif"/>
              </a:rPr>
              <a:t>BWA, samtools, Picard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77056" y="2057400"/>
            <a:ext cx="1417320" cy="7315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5340096" y="2313432"/>
            <a:ext cx="228600" cy="502920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41848" y="2057400"/>
            <a:ext cx="1417320" cy="11155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21671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2A26"/>
                </a:solidFill>
                <a:latin typeface="Liberation Serif"/>
              </a:rPr>
              <a:t>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2496312"/>
            <a:ext cx="12710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D635B"/>
                </a:solidFill>
                <a:latin typeface="Liberation Serif"/>
              </a:rPr>
              <a:t>coverage, mapped reads, TB-Mix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41848" y="2057400"/>
            <a:ext cx="1417320" cy="73152"/>
          </a:xfrm>
          <a:prstGeom prst="rect">
            <a:avLst/>
          </a:prstGeom>
          <a:solidFill>
            <a:srgbClr val="B45C3C"/>
          </a:solidFill>
          <a:ln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7104888" y="2313432"/>
            <a:ext cx="228600" cy="502920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2057400"/>
            <a:ext cx="1417320" cy="11155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2167128"/>
            <a:ext cx="12710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2A26"/>
                </a:solidFill>
                <a:latin typeface="Liberation Serif"/>
              </a:rPr>
              <a:t>Variants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2496312"/>
            <a:ext cx="12710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D635B"/>
                </a:solidFill>
                <a:latin typeface="Liberation Serif"/>
              </a:rPr>
              <a:t>FreeBayes, bcftools, SnpEff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2057400"/>
            <a:ext cx="1417320" cy="7315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evron 32"/>
          <p:cNvSpPr/>
          <p:nvPr/>
        </p:nvSpPr>
        <p:spPr>
          <a:xfrm>
            <a:off x="8869680" y="2313432"/>
            <a:ext cx="228600" cy="502920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71432" y="2057400"/>
            <a:ext cx="1874519" cy="11155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44584" y="2167128"/>
            <a:ext cx="17282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2A26"/>
                </a:solidFill>
                <a:latin typeface="Liberation Serif"/>
              </a:rPr>
              <a:t>Genotyping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2496312"/>
            <a:ext cx="172821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D635B"/>
                </a:solidFill>
                <a:latin typeface="Liberation Serif"/>
              </a:rPr>
              <a:t>TBLG, SpoTyping, TB-Profiler, RD, ISMapper, mosdepth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71432" y="2057400"/>
            <a:ext cx="1874519" cy="73152"/>
          </a:xfrm>
          <a:prstGeom prst="rect">
            <a:avLst/>
          </a:prstGeom>
          <a:solidFill>
            <a:srgbClr val="C6973B"/>
          </a:solidFill>
          <a:ln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evron 37"/>
          <p:cNvSpPr/>
          <p:nvPr/>
        </p:nvSpPr>
        <p:spPr>
          <a:xfrm>
            <a:off x="11091672" y="2313432"/>
            <a:ext cx="228600" cy="502920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393424" y="2057400"/>
            <a:ext cx="1554480" cy="1115568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66576" y="2167128"/>
            <a:ext cx="14081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F2A26"/>
                </a:solidFill>
                <a:latin typeface="Liberation Serif"/>
              </a:rPr>
              <a:t>Reports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66576" y="2496312"/>
            <a:ext cx="14081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D635B"/>
                </a:solidFill>
                <a:latin typeface="Liberation Serif"/>
              </a:rPr>
              <a:t>MultiQC, FINAL_TABLE, TSV / XLSX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393424" y="2057400"/>
            <a:ext cx="1554480" cy="73152"/>
          </a:xfrm>
          <a:prstGeom prst="rect">
            <a:avLst/>
          </a:prstGeom>
          <a:solidFill>
            <a:srgbClr val="3F7F50"/>
          </a:solidFill>
          <a:ln>
            <a:solidFill>
              <a:srgbClr val="3F7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13232" y="3977639"/>
            <a:ext cx="3474720" cy="123444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4187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F2A26"/>
                </a:solidFill>
                <a:latin typeface="Liberation Serif"/>
              </a:rPr>
              <a:t>Вход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44988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Illumina FASTQ; референс H37Rv; автоматическая подготовка таблицы образцов.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52544" y="3977639"/>
            <a:ext cx="3566160" cy="123444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35424" y="4187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F2A26"/>
                </a:solidFill>
                <a:latin typeface="Liberation Serif"/>
              </a:rPr>
              <a:t>Критерии отбора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35424" y="44988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Пороговые правила применяются до downstream-анализа, чтобы отсечь низкокачественные и смешанные образцы.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92440" y="3977639"/>
            <a:ext cx="3355848" cy="123444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4187952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F2A26"/>
                </a:solidFill>
                <a:latin typeface="Liberation Serif"/>
              </a:rPr>
              <a:t>Платформы запуска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498848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Nextflow DSL2; поддержка Docker и Singularity; пригоден для local и HPC-сценариев.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" y="55321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D635B"/>
                </a:solidFill>
                <a:latin typeface="Liberation Serif"/>
              </a:rPr>
              <a:t>Модульная схема делает пайплайн расширяемым: новые методы можно добавлять без перестройки всего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2834640"/>
          </a:xfrm>
          <a:prstGeom prst="ellipse">
            <a:avLst/>
          </a:prstGeom>
          <a:solidFill>
            <a:srgbClr val="F4ECD4"/>
          </a:solidFill>
          <a:ln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926080" cy="2286000"/>
          </a:xfrm>
          <a:prstGeom prst="ellipse">
            <a:avLst/>
          </a:prstGeom>
          <a:solidFill>
            <a:srgbClr val="D7E9E5"/>
          </a:solidFill>
          <a:ln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6D635B"/>
                </a:solidFill>
                <a:latin typeface="Liberation Serif"/>
              </a:rPr>
              <a:t>ОСНОВНАЯ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5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11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TB-lite | конференционная версия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747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F2A26"/>
                </a:solidFill>
                <a:latin typeface="Liberation Serif"/>
              </a:rPr>
              <a:t>Контроль качества и ключевые модули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371600"/>
            <a:ext cx="3246120" cy="448056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F2A26"/>
                </a:solidFill>
                <a:latin typeface="Liberation Serif"/>
              </a:rPr>
              <a:t>QC перед downstream-анализом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057400"/>
            <a:ext cx="2834640" cy="896112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167128"/>
            <a:ext cx="2542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МЕДИАННОЕ ПОКРЫТИЕ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2386584"/>
            <a:ext cx="2542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F6E62"/>
                </a:solidFill>
                <a:latin typeface="Liberation Serif"/>
              </a:rPr>
              <a:t>&gt;= 30X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862072"/>
            <a:ext cx="2542032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Минимум для надежного variant calling и дальнейшего генотипирования.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108960"/>
            <a:ext cx="2834640" cy="896112"/>
          </a:xfrm>
          <a:prstGeom prst="roundRect">
            <a:avLst/>
          </a:prstGeom>
          <a:solidFill>
            <a:srgbClr val="F3E1DA"/>
          </a:solidFill>
          <a:ln w="15240"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218688"/>
            <a:ext cx="2542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КАРТИРОВАННЫЕ РИДЫ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438144"/>
            <a:ext cx="2542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B45C3C"/>
                </a:solidFill>
                <a:latin typeface="Liberation Serif"/>
              </a:rPr>
              <a:t>&gt;= 80%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913632"/>
            <a:ext cx="2542032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Низкая доля выравнивания указывает на плохое качество или нерелевантный материал.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60520"/>
            <a:ext cx="2834640" cy="896112"/>
          </a:xfrm>
          <a:prstGeom prst="roundRect">
            <a:avLst/>
          </a:prstGeom>
          <a:solidFill>
            <a:srgbClr val="F4ECD4"/>
          </a:solidFill>
          <a:ln w="15240"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270248"/>
            <a:ext cx="2542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TB-MIX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489704"/>
            <a:ext cx="2542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6973B"/>
                </a:solidFill>
                <a:latin typeface="Liberation Serif"/>
              </a:rPr>
              <a:t>&lt;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4965192"/>
            <a:ext cx="2542032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Образцы с признаками смешанной инфекции отсеиваются до построения итоговых таблиц.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D635B"/>
                </a:solidFill>
                <a:latin typeface="Liberation Serif"/>
              </a:rPr>
              <a:t>Сценарий: PASS -&gt; полный анализ; FAIL -&gt; ранний отсев.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600200"/>
            <a:ext cx="6309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F2A26"/>
                </a:solidFill>
                <a:latin typeface="Liberation Serif"/>
              </a:rPr>
              <a:t>После фильтрации формируются шесть типов результата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2084831"/>
            <a:ext cx="2011680" cy="1371600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3984" y="2249424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F6E62"/>
                </a:solidFill>
                <a:latin typeface="Liberation Serif"/>
              </a:rPr>
              <a:t>TBLG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2587752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филогенетическая линия и подлиния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2084831"/>
            <a:ext cx="2011680" cy="1371600"/>
          </a:xfrm>
          <a:prstGeom prst="roundRect">
            <a:avLst/>
          </a:prstGeom>
          <a:solidFill>
            <a:srgbClr val="F3E1DA"/>
          </a:solidFill>
          <a:ln w="15240"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84264" y="2249424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B45C3C"/>
                </a:solidFill>
                <a:latin typeface="Liberation Serif"/>
              </a:rPr>
              <a:t>SpoTyping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2587752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сполиготип как дополнительный маркер типирования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2084831"/>
            <a:ext cx="2011680" cy="1371600"/>
          </a:xfrm>
          <a:prstGeom prst="roundRect">
            <a:avLst/>
          </a:prstGeom>
          <a:solidFill>
            <a:srgbClr val="F4ECD4"/>
          </a:solidFill>
          <a:ln w="15240"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24544" y="2249424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6973B"/>
                </a:solidFill>
                <a:latin typeface="Liberation Serif"/>
              </a:rPr>
              <a:t>TB-Profiler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24544" y="2587752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генотипическая лекарственная устойчивость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840480"/>
            <a:ext cx="2011680" cy="1371600"/>
          </a:xfrm>
          <a:prstGeom prst="roundRect">
            <a:avLst/>
          </a:prstGeom>
          <a:solidFill>
            <a:srgbClr val="E3F0E6"/>
          </a:solidFill>
          <a:ln w="15240">
            <a:solidFill>
              <a:srgbClr val="3F7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43984" y="4005072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3F7F50"/>
                </a:solidFill>
                <a:latin typeface="Liberation Serif"/>
              </a:rPr>
              <a:t>RD-анализ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4343400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крупные делеции и регионы различий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3840480"/>
            <a:ext cx="2011680" cy="1371600"/>
          </a:xfrm>
          <a:prstGeom prst="roundRect">
            <a:avLst/>
          </a:prstGeom>
          <a:solidFill>
            <a:srgbClr val="DEE7E5"/>
          </a:solidFill>
          <a:ln w="15240">
            <a:solidFill>
              <a:srgbClr val="24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84264" y="4005072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4564D"/>
                </a:solidFill>
                <a:latin typeface="Liberation Serif"/>
              </a:rPr>
              <a:t>ISMapper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84264" y="4343400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локализация копий IS6110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3840480"/>
            <a:ext cx="2011680" cy="1371600"/>
          </a:xfrm>
          <a:prstGeom prst="roundRect">
            <a:avLst/>
          </a:prstGeom>
          <a:solidFill>
            <a:srgbClr val="F1EAE1"/>
          </a:solidFill>
          <a:ln w="15240">
            <a:solidFill>
              <a:srgbClr val="6D6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4544" y="4005072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6D635B"/>
                </a:solidFill>
                <a:latin typeface="Liberation Serif"/>
              </a:rPr>
              <a:t>MultiQC / FINAL_TABLE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4544" y="4343400"/>
            <a:ext cx="171907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коортные таблицы и экспорт в XLSX / TSV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2834640"/>
          </a:xfrm>
          <a:prstGeom prst="ellipse">
            <a:avLst/>
          </a:prstGeom>
          <a:solidFill>
            <a:srgbClr val="F4ECD4"/>
          </a:solidFill>
          <a:ln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926080" cy="2286000"/>
          </a:xfrm>
          <a:prstGeom prst="ellipse">
            <a:avLst/>
          </a:prstGeom>
          <a:solidFill>
            <a:srgbClr val="D7E9E5"/>
          </a:solidFill>
          <a:ln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6D635B"/>
                </a:solidFill>
                <a:latin typeface="Liberation Serif"/>
              </a:rPr>
              <a:t>ОСНОВНАЯ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6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11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TB-lite | конференционная версия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747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F2A26"/>
                </a:solidFill>
                <a:latin typeface="Liberation Serif"/>
              </a:rPr>
              <a:t>Апробация на большой публичной коллекции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325880"/>
            <a:ext cx="2057400" cy="1143000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435607"/>
            <a:ext cx="1764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КОЛЛЕКЦИЯ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655064"/>
            <a:ext cx="17647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F6E62"/>
                </a:solidFill>
                <a:latin typeface="Liberation Serif"/>
              </a:rPr>
              <a:t>~79 тыс.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30552"/>
            <a:ext cx="1764792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Курированная выборка публичных геномов MTBC, использованная для оценки устойчивой работы пайплайна.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1325880"/>
            <a:ext cx="2057400" cy="1143000"/>
          </a:xfrm>
          <a:prstGeom prst="roundRect">
            <a:avLst/>
          </a:prstGeom>
          <a:solidFill>
            <a:srgbClr val="F3E1DA"/>
          </a:solidFill>
          <a:ln w="15240"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1435607"/>
            <a:ext cx="1764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УСТОЙЧИВОСТЬ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1655064"/>
            <a:ext cx="17647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B45C3C"/>
                </a:solidFill>
                <a:latin typeface="Liberation Serif"/>
              </a:rPr>
              <a:t>18 препаратов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8104" y="2130552"/>
            <a:ext cx="1764792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Генотипическая лекарственная устойчивость рассчитана для широкой панели противотуберкулезных препаратов.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1325880"/>
            <a:ext cx="2057400" cy="1143000"/>
          </a:xfrm>
          <a:prstGeom prst="roundRect">
            <a:avLst/>
          </a:prstGeom>
          <a:solidFill>
            <a:srgbClr val="F4ECD4"/>
          </a:solidFill>
          <a:ln w="15240"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0096" y="1435607"/>
            <a:ext cx="1764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КЛЮЧЕВОЙ ВЫВОД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1655064"/>
            <a:ext cx="17647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6973B"/>
                </a:solidFill>
                <a:latin typeface="Liberation Serif"/>
              </a:rPr>
              <a:t>L4 и 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130552"/>
            <a:ext cx="1764792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Наибольший вклад в коллекцию дают современные линии L4 и L2.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15783" y="1325880"/>
            <a:ext cx="3749039" cy="1143000"/>
          </a:xfrm>
          <a:prstGeom prst="roundRect">
            <a:avLst/>
          </a:prstGeom>
          <a:solidFill>
            <a:srgbClr val="E3F0E6"/>
          </a:solidFill>
          <a:ln w="15240">
            <a:solidFill>
              <a:srgbClr val="3F7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435607"/>
            <a:ext cx="34564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ПРАКТИЧЕСКИЙ СМЫСЛ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655064"/>
            <a:ext cx="34564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3F7F50"/>
                </a:solidFill>
                <a:latin typeface="Liberation Serif"/>
              </a:rPr>
              <a:t>единый формат 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130552"/>
            <a:ext cx="3456432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Результаты пригодны для последующих популяционных и эпидемиологических исследований без ручной нормализации.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2743200"/>
            <a:ext cx="5532120" cy="292608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92608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F2A26"/>
                </a:solidFill>
                <a:latin typeface="Liberation Serif"/>
              </a:rPr>
              <a:t>Распределение по основным линиям (n = 79 094)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401568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2A26"/>
                </a:solidFill>
                <a:latin typeface="Liberation Serif"/>
              </a:rPr>
              <a:t>L4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3419856"/>
            <a:ext cx="3291839" cy="164592"/>
          </a:xfrm>
          <a:prstGeom prst="roundRect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94560" y="3419856"/>
            <a:ext cx="1524121" cy="164592"/>
          </a:xfrm>
          <a:prstGeom prst="round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0" y="3364992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D635B"/>
                </a:solidFill>
                <a:latin typeface="Liberation Serif"/>
              </a:rPr>
              <a:t>46.3%  (36 610)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931920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2A26"/>
                </a:solidFill>
                <a:latin typeface="Liberation Serif"/>
              </a:rPr>
              <a:t>L2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94560" y="3950207"/>
            <a:ext cx="3291839" cy="164592"/>
          </a:xfrm>
          <a:prstGeom prst="roundRect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194560" y="3950207"/>
            <a:ext cx="957925" cy="164592"/>
          </a:xfrm>
          <a:prstGeom prst="roundRect">
            <a:avLst/>
          </a:prstGeom>
          <a:solidFill>
            <a:srgbClr val="B45C3C"/>
          </a:solidFill>
          <a:ln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3895344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D635B"/>
                </a:solidFill>
                <a:latin typeface="Liberation Serif"/>
              </a:rPr>
              <a:t>29.1%  (22 995)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4462272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2A26"/>
                </a:solidFill>
                <a:latin typeface="Liberation Serif"/>
              </a:rPr>
              <a:t>L3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94560" y="4480559"/>
            <a:ext cx="3291839" cy="164592"/>
          </a:xfrm>
          <a:prstGeom prst="roundRect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194560" y="4480559"/>
            <a:ext cx="283098" cy="164592"/>
          </a:xfrm>
          <a:prstGeom prst="roundRect">
            <a:avLst/>
          </a:prstGeom>
          <a:solidFill>
            <a:srgbClr val="C6973B"/>
          </a:solidFill>
          <a:ln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4425696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D635B"/>
                </a:solidFill>
                <a:latin typeface="Liberation Serif"/>
              </a:rPr>
              <a:t>8.6%  (6 797)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4992624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2A26"/>
                </a:solidFill>
                <a:latin typeface="Liberation Serif"/>
              </a:rPr>
              <a:t>L1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94560" y="5010912"/>
            <a:ext cx="3291839" cy="164592"/>
          </a:xfrm>
          <a:prstGeom prst="roundRect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194560" y="5010912"/>
            <a:ext cx="253471" cy="164592"/>
          </a:xfrm>
          <a:prstGeom prst="roundRect">
            <a:avLst/>
          </a:prstGeom>
          <a:solidFill>
            <a:srgbClr val="3F7F50"/>
          </a:solidFill>
          <a:ln>
            <a:solidFill>
              <a:srgbClr val="3F7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4956048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D635B"/>
                </a:solidFill>
                <a:latin typeface="Liberation Serif"/>
              </a:rPr>
              <a:t>7.7%  (6 080)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522976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2A26"/>
                </a:solidFill>
                <a:latin typeface="Liberation Serif"/>
              </a:rPr>
              <a:t>M. bovis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94560" y="5541264"/>
            <a:ext cx="3291839" cy="164592"/>
          </a:xfrm>
          <a:prstGeom prst="roundRect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194560" y="5541264"/>
            <a:ext cx="200802" cy="164592"/>
          </a:xfrm>
          <a:prstGeom prst="roundRect">
            <a:avLst/>
          </a:prstGeom>
          <a:solidFill>
            <a:srgbClr val="24564D"/>
          </a:solidFill>
          <a:ln>
            <a:solidFill>
              <a:srgbClr val="2456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577840" y="5486400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D635B"/>
                </a:solidFill>
                <a:latin typeface="Liberation Serif"/>
              </a:rPr>
              <a:t>6.1%  (4 837)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" y="6053328"/>
            <a:ext cx="123444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2A26"/>
                </a:solidFill>
                <a:latin typeface="Liberation Serif"/>
              </a:rPr>
              <a:t>Другие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94560" y="6071616"/>
            <a:ext cx="3291839" cy="164592"/>
          </a:xfrm>
          <a:prstGeom prst="roundRect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194560" y="6071616"/>
            <a:ext cx="164592" cy="164592"/>
          </a:xfrm>
          <a:prstGeom prst="roundRect">
            <a:avLst/>
          </a:prstGeom>
          <a:solidFill>
            <a:srgbClr val="6D635B"/>
          </a:solidFill>
          <a:ln>
            <a:solidFill>
              <a:srgbClr val="6D6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6016752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D635B"/>
                </a:solidFill>
                <a:latin typeface="Liberation Serif"/>
              </a:rPr>
              <a:t>2.2%  (1 775)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6520" y="2743200"/>
            <a:ext cx="4754880" cy="292608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29260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F2A26"/>
                </a:solidFill>
                <a:latin typeface="Liberation Serif"/>
              </a:rPr>
              <a:t>Категории лекарственной устойчивости (n = 63 258)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656832" y="3401568"/>
            <a:ext cx="1965960" cy="896112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03136" y="3511296"/>
            <a:ext cx="16733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DS-TB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3136" y="3730752"/>
            <a:ext cx="167335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F6E62"/>
                </a:solidFill>
                <a:latin typeface="Liberation Serif"/>
              </a:rPr>
              <a:t>68.0%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03136" y="4206240"/>
            <a:ext cx="1673351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43 011 изолятов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87968" y="3401568"/>
            <a:ext cx="1965960" cy="896112"/>
          </a:xfrm>
          <a:prstGeom prst="roundRect">
            <a:avLst/>
          </a:prstGeom>
          <a:solidFill>
            <a:srgbClr val="F3E1DA"/>
          </a:solidFill>
          <a:ln w="15240"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34272" y="3511296"/>
            <a:ext cx="16733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MDR-TB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34272" y="3730752"/>
            <a:ext cx="167335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B45C3C"/>
                </a:solidFill>
                <a:latin typeface="Liberation Serif"/>
              </a:rPr>
              <a:t>19.8%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34272" y="4206240"/>
            <a:ext cx="1673351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12 515 изолятов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56832" y="4526280"/>
            <a:ext cx="1965960" cy="896112"/>
          </a:xfrm>
          <a:prstGeom prst="roundRect">
            <a:avLst/>
          </a:prstGeom>
          <a:solidFill>
            <a:srgbClr val="F4ECD4"/>
          </a:solidFill>
          <a:ln w="15240"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03136" y="4636008"/>
            <a:ext cx="16733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PRE-XDR-TB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03136" y="4855464"/>
            <a:ext cx="167335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6973B"/>
                </a:solidFill>
                <a:latin typeface="Liberation Serif"/>
              </a:rPr>
              <a:t>11.4%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03136" y="5330952"/>
            <a:ext cx="1673351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7 189 изолятов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887968" y="4526280"/>
            <a:ext cx="1965960" cy="896112"/>
          </a:xfrm>
          <a:prstGeom prst="roundRect">
            <a:avLst/>
          </a:prstGeom>
          <a:solidFill>
            <a:srgbClr val="F1EAE1"/>
          </a:solidFill>
          <a:ln w="15240">
            <a:solidFill>
              <a:srgbClr val="6D6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034272" y="4636008"/>
            <a:ext cx="1673351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XDR-TB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34272" y="4855464"/>
            <a:ext cx="167335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6D635B"/>
                </a:solidFill>
                <a:latin typeface="Liberation Serif"/>
              </a:rPr>
              <a:t>0.9%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34272" y="5330952"/>
            <a:ext cx="1673351" cy="-365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543 изолятов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1248" y="5870448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1">
                <a:solidFill>
                  <a:srgbClr val="6D635B"/>
                </a:solidFill>
                <a:latin typeface="Liberation Serif"/>
              </a:rPr>
              <a:t>Пайплайн масштабируется от анализа отдельных изолятов до обработки больших публичных коллекций без смены логики workflow.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2834640"/>
          </a:xfrm>
          <a:prstGeom prst="ellipse">
            <a:avLst/>
          </a:prstGeom>
          <a:solidFill>
            <a:srgbClr val="F4ECD4"/>
          </a:solidFill>
          <a:ln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926080" cy="2286000"/>
          </a:xfrm>
          <a:prstGeom prst="ellipse">
            <a:avLst/>
          </a:prstGeom>
          <a:solidFill>
            <a:srgbClr val="D7E9E5"/>
          </a:solidFill>
          <a:ln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6D635B"/>
                </a:solidFill>
                <a:latin typeface="Liberation Serif"/>
              </a:rPr>
              <a:t>ОСНОВНАЯ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7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11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TB-lite | конференционная версия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747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F2A26"/>
                </a:solidFill>
                <a:latin typeface="Liberation Serif"/>
              </a:rPr>
              <a:t>Демо-прогон и производительность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389888"/>
            <a:ext cx="3822191" cy="201168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934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F2A26"/>
                </a:solidFill>
                <a:latin typeface="Liberation Serif"/>
              </a:rPr>
              <a:t>Что произошло в реальном прогоне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084831"/>
            <a:ext cx="960120" cy="868680"/>
          </a:xfrm>
          <a:prstGeom prst="roundRect">
            <a:avLst/>
          </a:prstGeom>
          <a:solidFill>
            <a:srgbClr val="F4ECD4"/>
          </a:solidFill>
          <a:ln w="15240"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12848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2F2A26"/>
                </a:solidFill>
                <a:latin typeface="Liberation Serif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23744"/>
            <a:ext cx="960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635B"/>
                </a:solidFill>
                <a:latin typeface="Liberation Serif"/>
              </a:rPr>
              <a:t>входных образцов</a:t>
            </a:r>
          </a:p>
        </p:txBody>
      </p:sp>
      <p:sp>
        <p:nvSpPr>
          <p:cNvPr id="14" name="Chevron 13"/>
          <p:cNvSpPr/>
          <p:nvPr/>
        </p:nvSpPr>
        <p:spPr>
          <a:xfrm>
            <a:off x="2002536" y="2249424"/>
            <a:ext cx="201168" cy="310896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58568" y="2084831"/>
            <a:ext cx="960120" cy="868680"/>
          </a:xfrm>
          <a:prstGeom prst="roundRect">
            <a:avLst/>
          </a:prstGeom>
          <a:solidFill>
            <a:srgbClr val="F3E1DA"/>
          </a:solidFill>
          <a:ln w="15240">
            <a:solidFill>
              <a:srgbClr val="F3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8568" y="2212848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B45C3C"/>
                </a:solidFill>
                <a:latin typeface="Liberation Serif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58568" y="2523744"/>
            <a:ext cx="960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635B"/>
                </a:solidFill>
                <a:latin typeface="Liberation Serif"/>
              </a:rPr>
              <a:t>ранних отсевов</a:t>
            </a:r>
          </a:p>
        </p:txBody>
      </p:sp>
      <p:sp>
        <p:nvSpPr>
          <p:cNvPr id="18" name="Chevron 17"/>
          <p:cNvSpPr/>
          <p:nvPr/>
        </p:nvSpPr>
        <p:spPr>
          <a:xfrm>
            <a:off x="3300983" y="2249424"/>
            <a:ext cx="201168" cy="310896"/>
          </a:xfrm>
          <a:prstGeom prst="chevron">
            <a:avLst/>
          </a:prstGeom>
          <a:solidFill>
            <a:srgbClr val="F1EAE1"/>
          </a:solidFill>
          <a:ln>
            <a:solidFill>
              <a:srgbClr val="F1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57015" y="2084831"/>
            <a:ext cx="960120" cy="868680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57015" y="2212848"/>
            <a:ext cx="960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24564D"/>
                </a:solidFill>
                <a:latin typeface="Liberation Serif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57015" y="2523744"/>
            <a:ext cx="960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635B"/>
                </a:solidFill>
                <a:latin typeface="Liberation Serif"/>
              </a:rPr>
              <a:t>полных профилей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0632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D635B"/>
                </a:solidFill>
                <a:latin typeface="Liberation Serif"/>
              </a:rPr>
              <a:t>paired-end: 14; single-end: 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8032" y="1389888"/>
            <a:ext cx="1828800" cy="960120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74336" y="1499616"/>
            <a:ext cx="1536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WALL CLOCK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74336" y="1719072"/>
            <a:ext cx="15361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F6E62"/>
                </a:solidFill>
                <a:latin typeface="Liberation Serif"/>
              </a:rPr>
              <a:t>24 мин 39 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74336" y="2194560"/>
            <a:ext cx="1536192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От первой отправки задачи до завершения workflow.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39712" y="1389888"/>
            <a:ext cx="1691640" cy="960120"/>
          </a:xfrm>
          <a:prstGeom prst="roundRect">
            <a:avLst/>
          </a:prstGeom>
          <a:solidFill>
            <a:srgbClr val="F3E1DA"/>
          </a:solidFill>
          <a:ln w="15240"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86016" y="1499616"/>
            <a:ext cx="1399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ЗАДАЧ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86016" y="1719072"/>
            <a:ext cx="139903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B45C3C"/>
                </a:solidFill>
                <a:latin typeface="Liberation Serif"/>
              </a:rPr>
              <a:t>244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194560"/>
            <a:ext cx="1399032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Всего процессов в реальном Nextflow trace.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32520" y="1389888"/>
            <a:ext cx="2240280" cy="960120"/>
          </a:xfrm>
          <a:prstGeom prst="roundRect">
            <a:avLst/>
          </a:prstGeom>
          <a:solidFill>
            <a:srgbClr val="F4ECD4"/>
          </a:solidFill>
          <a:ln w="15240"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78824" y="1499616"/>
            <a:ext cx="194767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635B"/>
                </a:solidFill>
                <a:latin typeface="Liberation Serif"/>
              </a:rPr>
              <a:t>ВЫХОД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78824" y="1719072"/>
            <a:ext cx="194767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C6973B"/>
                </a:solidFill>
                <a:latin typeface="Liberation Serif"/>
              </a:rPr>
              <a:t>MultiQC + XLSX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78824" y="2194560"/>
            <a:ext cx="1947672" cy="27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Пользователь получает и интерактивный отчет, и агрегированные таблицы.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28032" y="2578608"/>
            <a:ext cx="6144768" cy="228600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92624" y="2688336"/>
            <a:ext cx="5815583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F2A26"/>
                </a:solidFill>
                <a:latin typeface="Liberation Serif"/>
              </a:rPr>
              <a:t>Медианное время ключевых этапов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3803563"/>
            <a:ext cx="768095" cy="878164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56048" y="3547531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564D"/>
                </a:solidFill>
                <a:latin typeface="Liberation Serif"/>
              </a:rPr>
              <a:t>29 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56048" y="4645152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635B"/>
                </a:solidFill>
                <a:latin typeface="Liberation Serif"/>
              </a:rPr>
              <a:t>FASTP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0176" y="4368314"/>
            <a:ext cx="768095" cy="313413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0176" y="4112282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564D"/>
                </a:solidFill>
                <a:latin typeface="Liberation Serif"/>
              </a:rPr>
              <a:t>10 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176" y="4645152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635B"/>
                </a:solidFill>
                <a:latin typeface="Liberation Serif"/>
              </a:rPr>
              <a:t>FastQC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04303" y="3054096"/>
            <a:ext cx="768095" cy="162763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04303" y="2798063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564D"/>
                </a:solidFill>
                <a:latin typeface="Liberation Serif"/>
              </a:rPr>
              <a:t>54 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04303" y="4645152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635B"/>
                </a:solidFill>
                <a:latin typeface="Liberation Serif"/>
              </a:rPr>
              <a:t>BWA+Picard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28432" y="3249411"/>
            <a:ext cx="768095" cy="1432316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28432" y="2993379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564D"/>
                </a:solidFill>
                <a:latin typeface="Liberation Serif"/>
              </a:rPr>
              <a:t>47 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8432" y="4645152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635B"/>
                </a:solidFill>
                <a:latin typeface="Liberation Serif"/>
              </a:rPr>
              <a:t>FreeBayes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3293320"/>
            <a:ext cx="768095" cy="1388407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3037288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564D"/>
                </a:solidFill>
                <a:latin typeface="Liberation Serif"/>
              </a:rPr>
              <a:t>46 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645152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635B"/>
                </a:solidFill>
                <a:latin typeface="Liberation Serif"/>
              </a:rPr>
              <a:t>TB-Profiler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76688" y="3773282"/>
            <a:ext cx="768095" cy="908445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76688" y="3517250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4564D"/>
                </a:solidFill>
                <a:latin typeface="Liberation Serif"/>
              </a:rPr>
              <a:t>30 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76688" y="4645152"/>
            <a:ext cx="768095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6D635B"/>
                </a:solidFill>
                <a:latin typeface="Liberation Serif"/>
              </a:rPr>
              <a:t>ISMapper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" y="3840480"/>
            <a:ext cx="3657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F2A26"/>
                </a:solidFill>
                <a:latin typeface="Liberation Serif"/>
              </a:rPr>
              <a:t>Практическая интерпретация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• BWA+Picard и TB-Profiler формируют основной вычислительный профиль прогона.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• Два образца были отсечены ранним QC, поэтому downstream-модули не тратили ресурсы впустую.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• Схема пригодна для пакетной обработки и мониторинга через trace / MultiQC.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2F6E62"/>
          </a:solidFill>
          <a:ln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2834640"/>
          </a:xfrm>
          <a:prstGeom prst="ellipse">
            <a:avLst/>
          </a:prstGeom>
          <a:solidFill>
            <a:srgbClr val="F4ECD4"/>
          </a:solidFill>
          <a:ln>
            <a:solidFill>
              <a:srgbClr val="F4E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926080" cy="2286000"/>
          </a:xfrm>
          <a:prstGeom prst="ellipse">
            <a:avLst/>
          </a:prstGeom>
          <a:solidFill>
            <a:srgbClr val="D7E9E5"/>
          </a:solidFill>
          <a:ln>
            <a:solidFill>
              <a:srgbClr val="D7E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64040" y="256032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6D635B"/>
                </a:solidFill>
                <a:latin typeface="Liberation Serif"/>
              </a:rPr>
              <a:t>ЗАКЛЮЧЕНИЕ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8 /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6400800"/>
            <a:ext cx="3611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D635B"/>
                </a:solidFill>
                <a:latin typeface="Liberation Serif"/>
              </a:rPr>
              <a:t>TB-lite | конференционная версия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747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F2A26"/>
                </a:solidFill>
                <a:latin typeface="Liberation Serif"/>
              </a:rPr>
              <a:t>Выводы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27632"/>
            <a:ext cx="2743200" cy="1965960"/>
          </a:xfrm>
          <a:prstGeom prst="roundRect">
            <a:avLst/>
          </a:prstGeom>
          <a:solidFill>
            <a:srgbClr val="D7E9E5"/>
          </a:solidFill>
          <a:ln w="15240">
            <a:solidFill>
              <a:srgbClr val="2F6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2F6E62"/>
                </a:solidFill>
                <a:latin typeface="Liberation Serif"/>
              </a:rPr>
              <a:t>Воспроизводимость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130552"/>
            <a:ext cx="245059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TB-lite собирает ключевые этапы анализа M. tuberculosis в один формализованный Nextflow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27632"/>
            <a:ext cx="2743200" cy="1965960"/>
          </a:xfrm>
          <a:prstGeom prst="roundRect">
            <a:avLst/>
          </a:prstGeom>
          <a:solidFill>
            <a:srgbClr val="F3E1DA"/>
          </a:solidFill>
          <a:ln w="15240">
            <a:solidFill>
              <a:srgbClr val="B45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23944" y="1792224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B45C3C"/>
                </a:solidFill>
                <a:latin typeface="Liberation Serif"/>
              </a:rPr>
              <a:t>Практическая ценность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3944" y="2130552"/>
            <a:ext cx="245059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Пайплайн выдает готовые к интерпретации результаты: линии, сполиготипы, устойчивость, RD и IS6110.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627632"/>
            <a:ext cx="2743200" cy="1965960"/>
          </a:xfrm>
          <a:prstGeom prst="roundRect">
            <a:avLst/>
          </a:prstGeom>
          <a:solidFill>
            <a:srgbClr val="F4ECD4"/>
          </a:solidFill>
          <a:ln w="15240">
            <a:solidFill>
              <a:srgbClr val="C6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1792224"/>
            <a:ext cx="24505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C6973B"/>
                </a:solidFill>
                <a:latin typeface="Liberation Serif"/>
              </a:rPr>
              <a:t>Масштабируемость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4344" y="2130552"/>
            <a:ext cx="245059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spcAft>
                <a:spcPts val="0"/>
              </a:spcAft>
            </a:pPr>
            <a:r>
              <a:rPr sz="1400" b="0" i="0">
                <a:solidFill>
                  <a:srgbClr val="6D635B"/>
                </a:solidFill>
                <a:latin typeface="Liberation Serif"/>
              </a:rPr>
              <a:t>Инструмент подходит и для новых изолятов, и для повторного анализа больших публичных коллекций.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69080"/>
            <a:ext cx="10561320" cy="1280160"/>
          </a:xfrm>
          <a:prstGeom prst="roundRect">
            <a:avLst/>
          </a:prstGeom>
          <a:solidFill>
            <a:srgbClr val="FCF9F4"/>
          </a:solidFill>
          <a:ln w="15240">
            <a:solidFill>
              <a:srgbClr val="D8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315968"/>
            <a:ext cx="101041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2F2A26"/>
                </a:solidFill>
                <a:latin typeface="Liberation Serif"/>
              </a:rPr>
              <a:t>TB-lite можно использовать как унифицированный базовый конвейер для геномных и эпидемиологических исследований M. tuberculosis.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6D635B"/>
                </a:solidFill>
                <a:latin typeface="Liberation Serif"/>
              </a:rPr>
              <a:t>Следующий шаг: расширение аналитических модулей и интеграция в исследовательские и клинические платформы.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