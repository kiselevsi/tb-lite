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FC063E-74DA-43D6-8780-8939454666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B38C18-AB28-43CC-A055-DC503D9A07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189223D-DE8F-4D75-A7E7-52BF074C383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E4091FB-5891-425E-AA83-DA095B8653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EC3A72A-8373-4CA4-A773-BEEE48E9A1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D88D6AF-D68E-4613-84E6-3F16A8F77EC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2863B75-9CDE-48AA-88D8-3A20291443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39F5A73-61CD-4224-A077-7ECCE7AF34B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A48AFFB-E67C-4CC3-AAD5-4A9240ECD6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9E4A396-E275-4D28-BFD9-FD08A6B7CB5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50016431-30F8-40F6-9F2B-C46B4325426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B12E97F-53C4-4A28-80C3-5A06FDD3186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2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54A2F3-70DC-4548-949F-45D690660CD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0C005D0-61F5-4614-BC62-FCF51F9672D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DFD865-5CF6-40B2-8C5B-94C76CF0E89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B11A96-16D6-425D-A096-D33263FA1FA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C508B8-C650-4D6F-B22A-425A3851D01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11EE67-A443-4A4C-8ACB-E269DDFFD9C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D121AB-DB14-4083-AC71-C267FACB678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A5CBB6E-D49C-43E9-913F-38455039516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4005BF-1AC0-4573-85A8-5C051DF5A7A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447804-6723-47EB-971D-154BCD93817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54360" cy="6857640"/>
          </a:xfrm>
          <a:prstGeom prst="rect">
            <a:avLst/>
          </a:prstGeom>
          <a:solidFill>
            <a:srgbClr val="58a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4745520" y="365760"/>
            <a:ext cx="202968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58a6ff"/>
                </a:solidFill>
                <a:latin typeface="Calibri"/>
              </a:rPr>
              <a:t>TB-Lite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731520" y="1005840"/>
            <a:ext cx="10058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8b949e"/>
                </a:solidFill>
                <a:latin typeface="Calibri"/>
              </a:rPr>
              <a:t>Nextflow-пайплайн для геномного анализа Mycobacterium tuberculosis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731520" y="1645920"/>
            <a:ext cx="5028840" cy="20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e6edf3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e6edf3"/>
                </a:solidFill>
                <a:latin typeface="Calibri"/>
              </a:rPr>
              <a:t>8 этапов, 26 процессов — модульная DSL2-архитектура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e6edf3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e6edf3"/>
                </a:solidFill>
                <a:latin typeface="Calibri"/>
              </a:rPr>
              <a:t>Вход: FASTQ (paired-end / single-end)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e6edf3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e6edf3"/>
                </a:solidFill>
                <a:latin typeface="Calibri"/>
              </a:rPr>
              <a:t>Референс: H37Rv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e6edf3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e6edf3"/>
                </a:solidFill>
                <a:latin typeface="Calibri"/>
              </a:rPr>
              <a:t>Трёхуровневая фильтрация (покрытие, выравнивание, контаминация)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e6edf3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e6edf3"/>
                </a:solidFill>
                <a:latin typeface="Calibri"/>
              </a:rPr>
              <a:t>Детекция смешанных инфекций (TB-Mix)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e6edf3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e6edf3"/>
                </a:solidFill>
                <a:latin typeface="Calibri"/>
              </a:rPr>
              <a:t>Когортный анализ при &gt; 1 образце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6400800" y="1645920"/>
            <a:ext cx="4571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b949e"/>
                </a:solidFill>
                <a:latin typeface="Calibri"/>
              </a:rPr>
              <a:t>Результаты анализа: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6400800" y="2011680"/>
            <a:ext cx="5028840" cy="16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e6edf3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e6edf3"/>
                </a:solidFill>
                <a:latin typeface="Calibri"/>
              </a:rPr>
              <a:t>Филогенетическая линия (TBLG: L1-L7)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e6edf3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e6edf3"/>
                </a:solidFill>
                <a:latin typeface="Calibri"/>
              </a:rPr>
              <a:t>Споликотип (SpoTyping)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e6edf3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e6edf3"/>
                </a:solidFill>
                <a:latin typeface="Calibri"/>
              </a:rPr>
              <a:t>Лекарственная устойчивость (TB-Profiler)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e6edf3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e6edf3"/>
                </a:solidFill>
                <a:latin typeface="Calibri"/>
              </a:rPr>
              <a:t>Регионы делеций RD (RD-анализ)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e6edf3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e6edf3"/>
                </a:solidFill>
                <a:latin typeface="Calibri"/>
              </a:rPr>
              <a:t>Позиции IS6110 (ISMapper)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e6edf3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e6edf3"/>
                </a:solidFill>
                <a:latin typeface="Calibri"/>
              </a:rPr>
              <a:t>Итоговые таблицы: XLSX, TSV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Rounded Rectangle 7"/>
          <p:cNvSpPr/>
          <p:nvPr/>
        </p:nvSpPr>
        <p:spPr>
          <a:xfrm>
            <a:off x="731520" y="5303520"/>
            <a:ext cx="1672920" cy="292320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58a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731520" y="5330880"/>
            <a:ext cx="16729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8a6ff"/>
                </a:solidFill>
                <a:latin typeface="Calibri"/>
              </a:rPr>
              <a:t>Nextflow DSL2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Rounded Rectangle 9"/>
          <p:cNvSpPr/>
          <p:nvPr/>
        </p:nvSpPr>
        <p:spPr>
          <a:xfrm>
            <a:off x="2541960" y="5303520"/>
            <a:ext cx="968760" cy="292320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3fb9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2541960" y="5330880"/>
            <a:ext cx="968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3fb950"/>
                </a:solidFill>
                <a:latin typeface="Calibri"/>
              </a:rPr>
              <a:t>Docker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Rounded Rectangle 11"/>
          <p:cNvSpPr/>
          <p:nvPr/>
        </p:nvSpPr>
        <p:spPr>
          <a:xfrm>
            <a:off x="3648600" y="5303520"/>
            <a:ext cx="1471680" cy="292320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3fb9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12"/>
          <p:cNvSpPr/>
          <p:nvPr/>
        </p:nvSpPr>
        <p:spPr>
          <a:xfrm>
            <a:off x="3648600" y="5330880"/>
            <a:ext cx="14716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3fb950"/>
                </a:solidFill>
                <a:latin typeface="Calibri"/>
              </a:rPr>
              <a:t>Singularity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Rounded Rectangle 13"/>
          <p:cNvSpPr/>
          <p:nvPr/>
        </p:nvSpPr>
        <p:spPr>
          <a:xfrm>
            <a:off x="5257800" y="5303520"/>
            <a:ext cx="1371240" cy="292320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8b949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14"/>
          <p:cNvSpPr/>
          <p:nvPr/>
        </p:nvSpPr>
        <p:spPr>
          <a:xfrm>
            <a:off x="5257800" y="5330880"/>
            <a:ext cx="1371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Kubernetes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Rounded Rectangle 15"/>
          <p:cNvSpPr/>
          <p:nvPr/>
        </p:nvSpPr>
        <p:spPr>
          <a:xfrm>
            <a:off x="6766560" y="5303520"/>
            <a:ext cx="1270800" cy="292320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f088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16"/>
          <p:cNvSpPr/>
          <p:nvPr/>
        </p:nvSpPr>
        <p:spPr>
          <a:xfrm>
            <a:off x="6766560" y="5330880"/>
            <a:ext cx="1270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0883e"/>
                </a:solidFill>
                <a:latin typeface="Calibri"/>
              </a:rPr>
              <a:t>HPC-ready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Box 17"/>
          <p:cNvSpPr/>
          <p:nvPr/>
        </p:nvSpPr>
        <p:spPr>
          <a:xfrm>
            <a:off x="1609920" y="6400800"/>
            <a:ext cx="437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84f58"/>
                </a:solidFill>
                <a:latin typeface="Calibri"/>
              </a:rPr>
              <a:t>1 / 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Box 18"/>
          <p:cNvSpPr/>
          <p:nvPr/>
        </p:nvSpPr>
        <p:spPr>
          <a:xfrm>
            <a:off x="9754920" y="6400800"/>
            <a:ext cx="1520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84f58"/>
                </a:solidFill>
                <a:latin typeface="Calibri"/>
              </a:rPr>
              <a:t>TB-Lite Pipeline | 2025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0"/>
            <a:ext cx="54360" cy="6857640"/>
          </a:xfrm>
          <a:prstGeom prst="rect">
            <a:avLst/>
          </a:prstGeom>
          <a:solidFill>
            <a:srgbClr val="58a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2736360" y="365760"/>
            <a:ext cx="6048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58a6ff"/>
                </a:solidFill>
                <a:latin typeface="Calibri"/>
              </a:rPr>
              <a:t>Архитектура пайплайна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Rounded Rectangle 3"/>
          <p:cNvSpPr/>
          <p:nvPr/>
        </p:nvSpPr>
        <p:spPr>
          <a:xfrm>
            <a:off x="274320" y="2651760"/>
            <a:ext cx="1279800" cy="776880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4"/>
          <p:cNvSpPr/>
          <p:nvPr/>
        </p:nvSpPr>
        <p:spPr>
          <a:xfrm>
            <a:off x="274320" y="2697480"/>
            <a:ext cx="1279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in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Box 5"/>
          <p:cNvSpPr/>
          <p:nvPr/>
        </p:nvSpPr>
        <p:spPr>
          <a:xfrm>
            <a:off x="274320" y="2853000"/>
            <a:ext cx="1279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8b949e"/>
                </a:solidFill>
                <a:latin typeface="Calibri"/>
              </a:rPr>
              <a:t>FASTQ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Box 6"/>
          <p:cNvSpPr/>
          <p:nvPr/>
        </p:nvSpPr>
        <p:spPr>
          <a:xfrm>
            <a:off x="274320" y="3072240"/>
            <a:ext cx="12798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b949e"/>
                </a:solidFill>
                <a:latin typeface="Calibri"/>
              </a:rPr>
              <a:t>входные данные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Rounded Rectangle 7"/>
          <p:cNvSpPr/>
          <p:nvPr/>
        </p:nvSpPr>
        <p:spPr>
          <a:xfrm>
            <a:off x="1691640" y="2651760"/>
            <a:ext cx="1279800" cy="776880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3fb9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8"/>
          <p:cNvSpPr/>
          <p:nvPr/>
        </p:nvSpPr>
        <p:spPr>
          <a:xfrm>
            <a:off x="1691640" y="2697480"/>
            <a:ext cx="1279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1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Box 9"/>
          <p:cNvSpPr/>
          <p:nvPr/>
        </p:nvSpPr>
        <p:spPr>
          <a:xfrm>
            <a:off x="1691640" y="2853000"/>
            <a:ext cx="1279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e6edf3"/>
                </a:solidFill>
                <a:latin typeface="Calibri"/>
              </a:rPr>
              <a:t>TRIMMING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1691640" y="3072240"/>
            <a:ext cx="12798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b949e"/>
                </a:solidFill>
                <a:latin typeface="Calibri"/>
              </a:rPr>
              <a:t>fastp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Rounded Rectangle 11"/>
          <p:cNvSpPr/>
          <p:nvPr/>
        </p:nvSpPr>
        <p:spPr>
          <a:xfrm>
            <a:off x="3108960" y="2651760"/>
            <a:ext cx="1279800" cy="776880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12"/>
          <p:cNvSpPr/>
          <p:nvPr/>
        </p:nvSpPr>
        <p:spPr>
          <a:xfrm>
            <a:off x="3108960" y="2697480"/>
            <a:ext cx="1279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3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Box 13"/>
          <p:cNvSpPr/>
          <p:nvPr/>
        </p:nvSpPr>
        <p:spPr>
          <a:xfrm>
            <a:off x="3108960" y="2853000"/>
            <a:ext cx="1279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e6edf3"/>
                </a:solidFill>
                <a:latin typeface="Calibri"/>
              </a:rPr>
              <a:t>MAPPING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Box 14"/>
          <p:cNvSpPr/>
          <p:nvPr/>
        </p:nvSpPr>
        <p:spPr>
          <a:xfrm>
            <a:off x="3108960" y="3072240"/>
            <a:ext cx="12798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b949e"/>
                </a:solidFill>
                <a:latin typeface="Calibri"/>
              </a:rPr>
              <a:t>BWA-mem, samtools</a:t>
            </a:r>
            <a:br>
              <a:rPr sz="800"/>
            </a:br>
            <a:r>
              <a:rPr b="0" lang="en-US" sz="800" spc="-1" strike="noStrike">
                <a:solidFill>
                  <a:srgbClr val="8b949e"/>
                </a:solidFill>
                <a:latin typeface="Calibri"/>
              </a:rPr>
              <a:t>Picard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Rounded Rectangle 15"/>
          <p:cNvSpPr/>
          <p:nvPr/>
        </p:nvSpPr>
        <p:spPr>
          <a:xfrm>
            <a:off x="4526280" y="2651760"/>
            <a:ext cx="1279800" cy="776880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f088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16"/>
          <p:cNvSpPr/>
          <p:nvPr/>
        </p:nvSpPr>
        <p:spPr>
          <a:xfrm>
            <a:off x="4526280" y="2697480"/>
            <a:ext cx="1279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Box 17"/>
          <p:cNvSpPr/>
          <p:nvPr/>
        </p:nvSpPr>
        <p:spPr>
          <a:xfrm>
            <a:off x="4526280" y="2853000"/>
            <a:ext cx="1279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0883e"/>
                </a:solidFill>
                <a:latin typeface="Calibri"/>
              </a:rPr>
              <a:t>FILTER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Box 18"/>
          <p:cNvSpPr/>
          <p:nvPr/>
        </p:nvSpPr>
        <p:spPr>
          <a:xfrm>
            <a:off x="4526280" y="3072240"/>
            <a:ext cx="12798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b949e"/>
                </a:solidFill>
                <a:latin typeface="Calibri"/>
              </a:rPr>
              <a:t>TB-Mix, Picard</a:t>
            </a:r>
            <a:br>
              <a:rPr sz="800"/>
            </a:br>
            <a:r>
              <a:rPr b="0" lang="en-US" sz="800" spc="-1" strike="noStrike">
                <a:solidFill>
                  <a:srgbClr val="8b949e"/>
                </a:solidFill>
                <a:latin typeface="Calibri"/>
              </a:rPr>
              <a:t>samtools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Rounded Rectangle 19"/>
          <p:cNvSpPr/>
          <p:nvPr/>
        </p:nvSpPr>
        <p:spPr>
          <a:xfrm>
            <a:off x="5943600" y="2651760"/>
            <a:ext cx="1279800" cy="776880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20"/>
          <p:cNvSpPr/>
          <p:nvPr/>
        </p:nvSpPr>
        <p:spPr>
          <a:xfrm>
            <a:off x="5943600" y="2697480"/>
            <a:ext cx="1279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Box 21"/>
          <p:cNvSpPr/>
          <p:nvPr/>
        </p:nvSpPr>
        <p:spPr>
          <a:xfrm>
            <a:off x="5943600" y="2853000"/>
            <a:ext cx="1279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e6edf3"/>
                </a:solidFill>
                <a:latin typeface="Calibri"/>
              </a:rPr>
              <a:t>CALL VAR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Box 22"/>
          <p:cNvSpPr/>
          <p:nvPr/>
        </p:nvSpPr>
        <p:spPr>
          <a:xfrm>
            <a:off x="5943600" y="3072240"/>
            <a:ext cx="12798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b949e"/>
                </a:solidFill>
                <a:latin typeface="Calibri"/>
              </a:rPr>
              <a:t>Freebayes, SnpEff</a:t>
            </a:r>
            <a:br>
              <a:rPr sz="800"/>
            </a:br>
            <a:r>
              <a:rPr b="0" lang="en-US" sz="800" spc="-1" strike="noStrike">
                <a:solidFill>
                  <a:srgbClr val="8b949e"/>
                </a:solidFill>
                <a:latin typeface="Calibri"/>
              </a:rPr>
              <a:t>BCFtools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Rounded Rectangle 23"/>
          <p:cNvSpPr/>
          <p:nvPr/>
        </p:nvSpPr>
        <p:spPr>
          <a:xfrm>
            <a:off x="7360920" y="2651760"/>
            <a:ext cx="1279800" cy="776880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24"/>
          <p:cNvSpPr/>
          <p:nvPr/>
        </p:nvSpPr>
        <p:spPr>
          <a:xfrm>
            <a:off x="7360920" y="2697480"/>
            <a:ext cx="1279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6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Box 25"/>
          <p:cNvSpPr/>
          <p:nvPr/>
        </p:nvSpPr>
        <p:spPr>
          <a:xfrm>
            <a:off x="7360920" y="2853000"/>
            <a:ext cx="1279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e6edf3"/>
                </a:solidFill>
                <a:latin typeface="Calibri"/>
              </a:rPr>
              <a:t>GENOTYPING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Box 26"/>
          <p:cNvSpPr/>
          <p:nvPr/>
        </p:nvSpPr>
        <p:spPr>
          <a:xfrm>
            <a:off x="7360920" y="3072240"/>
            <a:ext cx="127980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b949e"/>
                </a:solidFill>
                <a:latin typeface="Calibri"/>
              </a:rPr>
              <a:t>TBLG, SpoTyping, Mosdepth</a:t>
            </a:r>
            <a:br>
              <a:rPr sz="800"/>
            </a:br>
            <a:r>
              <a:rPr b="0" lang="en-US" sz="800" spc="-1" strike="noStrike">
                <a:solidFill>
                  <a:srgbClr val="8b949e"/>
                </a:solidFill>
                <a:latin typeface="Calibri"/>
              </a:rPr>
              <a:t>TB-Profiler, RD, ISMapper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Rounded Rectangle 27"/>
          <p:cNvSpPr/>
          <p:nvPr/>
        </p:nvSpPr>
        <p:spPr>
          <a:xfrm>
            <a:off x="8778240" y="2651760"/>
            <a:ext cx="1279800" cy="776880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3fb9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28"/>
          <p:cNvSpPr/>
          <p:nvPr/>
        </p:nvSpPr>
        <p:spPr>
          <a:xfrm>
            <a:off x="8778240" y="2697480"/>
            <a:ext cx="1279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7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Box 29"/>
          <p:cNvSpPr/>
          <p:nvPr/>
        </p:nvSpPr>
        <p:spPr>
          <a:xfrm>
            <a:off x="8778240" y="2853000"/>
            <a:ext cx="1279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</a:rPr>
              <a:t>REPORTS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Box 30"/>
          <p:cNvSpPr/>
          <p:nvPr/>
        </p:nvSpPr>
        <p:spPr>
          <a:xfrm>
            <a:off x="8778240" y="3072240"/>
            <a:ext cx="12798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b949e"/>
                </a:solidFill>
                <a:latin typeface="Calibri"/>
              </a:rPr>
              <a:t>MultiQC, FINAL_TABLE</a:t>
            </a:r>
            <a:br>
              <a:rPr sz="800"/>
            </a:br>
            <a:r>
              <a:rPr b="0" lang="en-US" sz="800" spc="-1" strike="noStrike">
                <a:solidFill>
                  <a:srgbClr val="8b949e"/>
                </a:solidFill>
                <a:latin typeface="Calibri"/>
              </a:rPr>
              <a:t>TB_PLATFORM_TABLES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Rounded Rectangle 31"/>
          <p:cNvSpPr/>
          <p:nvPr/>
        </p:nvSpPr>
        <p:spPr>
          <a:xfrm>
            <a:off x="3108960" y="1280160"/>
            <a:ext cx="1279800" cy="776880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58a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32"/>
          <p:cNvSpPr/>
          <p:nvPr/>
        </p:nvSpPr>
        <p:spPr>
          <a:xfrm>
            <a:off x="3108960" y="1325880"/>
            <a:ext cx="1279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2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Box 33"/>
          <p:cNvSpPr/>
          <p:nvPr/>
        </p:nvSpPr>
        <p:spPr>
          <a:xfrm>
            <a:off x="3108960" y="1481400"/>
            <a:ext cx="1279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58a6ff"/>
                </a:solidFill>
                <a:latin typeface="Calibri"/>
              </a:rPr>
              <a:t>QC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Box 34"/>
          <p:cNvSpPr/>
          <p:nvPr/>
        </p:nvSpPr>
        <p:spPr>
          <a:xfrm>
            <a:off x="3108960" y="1700640"/>
            <a:ext cx="12798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b949e"/>
                </a:solidFill>
                <a:latin typeface="Calibri"/>
              </a:rPr>
              <a:t>FastQC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Rounded Rectangle 35"/>
          <p:cNvSpPr/>
          <p:nvPr/>
        </p:nvSpPr>
        <p:spPr>
          <a:xfrm>
            <a:off x="5943600" y="4297680"/>
            <a:ext cx="1279800" cy="776880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58a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36"/>
          <p:cNvSpPr/>
          <p:nvPr/>
        </p:nvSpPr>
        <p:spPr>
          <a:xfrm>
            <a:off x="5943600" y="4343400"/>
            <a:ext cx="1279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8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Box 37"/>
          <p:cNvSpPr/>
          <p:nvPr/>
        </p:nvSpPr>
        <p:spPr>
          <a:xfrm>
            <a:off x="5943600" y="4498920"/>
            <a:ext cx="1279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58a6ff"/>
                </a:solidFill>
                <a:latin typeface="Calibri"/>
              </a:rPr>
              <a:t>ANN_TABLE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Box 38"/>
          <p:cNvSpPr/>
          <p:nvPr/>
        </p:nvSpPr>
        <p:spPr>
          <a:xfrm>
            <a:off x="5943600" y="4718160"/>
            <a:ext cx="12798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b949e"/>
                </a:solidFill>
                <a:latin typeface="Calibri"/>
              </a:rPr>
              <a:t>bcftools merge</a:t>
            </a:r>
            <a:br>
              <a:rPr sz="800"/>
            </a:br>
            <a:r>
              <a:rPr b="0" lang="en-US" sz="800" spc="-1" strike="noStrike">
                <a:solidFill>
                  <a:srgbClr val="8b949e"/>
                </a:solidFill>
                <a:latin typeface="Calibri"/>
              </a:rPr>
              <a:t>SnpEff, SnpSift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23" name="Connector 39"/>
          <p:cNvCxnSpPr/>
          <p:nvPr/>
        </p:nvCxnSpPr>
        <p:spPr>
          <a:xfrm>
            <a:off x="1554480" y="3040200"/>
            <a:ext cx="137520" cy="360"/>
          </a:xfrm>
          <a:prstGeom prst="straightConnector1">
            <a:avLst/>
          </a:prstGeom>
          <a:ln>
            <a:solidFill>
              <a:srgbClr val="3fb950"/>
            </a:solidFill>
            <a:round/>
          </a:ln>
        </p:spPr>
      </p:cxnSp>
      <p:cxnSp>
        <p:nvCxnSpPr>
          <p:cNvPr id="124" name="Connector 40"/>
          <p:cNvCxnSpPr/>
          <p:nvPr/>
        </p:nvCxnSpPr>
        <p:spPr>
          <a:xfrm>
            <a:off x="2971800" y="3040200"/>
            <a:ext cx="137520" cy="360"/>
          </a:xfrm>
          <a:prstGeom prst="straightConnector1">
            <a:avLst/>
          </a:prstGeom>
          <a:ln>
            <a:solidFill>
              <a:srgbClr val="3fb950"/>
            </a:solidFill>
            <a:round/>
          </a:ln>
        </p:spPr>
      </p:cxnSp>
      <p:cxnSp>
        <p:nvCxnSpPr>
          <p:cNvPr id="125" name="Connector 41"/>
          <p:cNvCxnSpPr/>
          <p:nvPr/>
        </p:nvCxnSpPr>
        <p:spPr>
          <a:xfrm>
            <a:off x="4389120" y="3040200"/>
            <a:ext cx="137520" cy="360"/>
          </a:xfrm>
          <a:prstGeom prst="straightConnector1">
            <a:avLst/>
          </a:prstGeom>
          <a:ln>
            <a:solidFill>
              <a:srgbClr val="3fb950"/>
            </a:solidFill>
            <a:round/>
          </a:ln>
        </p:spPr>
      </p:cxnSp>
      <p:cxnSp>
        <p:nvCxnSpPr>
          <p:cNvPr id="126" name="Connector 42"/>
          <p:cNvCxnSpPr/>
          <p:nvPr/>
        </p:nvCxnSpPr>
        <p:spPr>
          <a:xfrm>
            <a:off x="5806440" y="3040200"/>
            <a:ext cx="137520" cy="360"/>
          </a:xfrm>
          <a:prstGeom prst="straightConnector1">
            <a:avLst/>
          </a:prstGeom>
          <a:ln>
            <a:solidFill>
              <a:srgbClr val="3fb950"/>
            </a:solidFill>
            <a:round/>
          </a:ln>
        </p:spPr>
      </p:cxnSp>
      <p:cxnSp>
        <p:nvCxnSpPr>
          <p:cNvPr id="127" name="Connector 43"/>
          <p:cNvCxnSpPr/>
          <p:nvPr/>
        </p:nvCxnSpPr>
        <p:spPr>
          <a:xfrm>
            <a:off x="7223760" y="3040200"/>
            <a:ext cx="137520" cy="360"/>
          </a:xfrm>
          <a:prstGeom prst="straightConnector1">
            <a:avLst/>
          </a:prstGeom>
          <a:ln>
            <a:solidFill>
              <a:srgbClr val="3fb950"/>
            </a:solidFill>
            <a:round/>
          </a:ln>
        </p:spPr>
      </p:cxnSp>
      <p:cxnSp>
        <p:nvCxnSpPr>
          <p:cNvPr id="128" name="Connector 44"/>
          <p:cNvCxnSpPr/>
          <p:nvPr/>
        </p:nvCxnSpPr>
        <p:spPr>
          <a:xfrm>
            <a:off x="8641080" y="3040200"/>
            <a:ext cx="137520" cy="360"/>
          </a:xfrm>
          <a:prstGeom prst="straightConnector1">
            <a:avLst/>
          </a:prstGeom>
          <a:ln>
            <a:solidFill>
              <a:srgbClr val="3fb950"/>
            </a:solidFill>
            <a:round/>
          </a:ln>
        </p:spPr>
      </p:cxnSp>
      <p:cxnSp>
        <p:nvCxnSpPr>
          <p:cNvPr id="129" name="Connector 45"/>
          <p:cNvCxnSpPr>
            <a:endCxn id="118" idx="-1"/>
          </p:cNvCxnSpPr>
          <p:nvPr/>
        </p:nvCxnSpPr>
        <p:spPr>
          <a:xfrm flipV="1">
            <a:off x="2331720" y="1806120"/>
            <a:ext cx="777600" cy="846000"/>
          </a:xfrm>
          <a:prstGeom prst="straightConnector1">
            <a:avLst/>
          </a:prstGeom>
          <a:ln w="19050">
            <a:solidFill>
              <a:srgbClr val="58a6ff"/>
            </a:solidFill>
            <a:round/>
          </a:ln>
        </p:spPr>
      </p:cxnSp>
      <p:cxnSp>
        <p:nvCxnSpPr>
          <p:cNvPr id="130" name="Connector 46"/>
          <p:cNvCxnSpPr/>
          <p:nvPr/>
        </p:nvCxnSpPr>
        <p:spPr>
          <a:xfrm>
            <a:off x="4389120" y="1668600"/>
            <a:ext cx="5029560" cy="983520"/>
          </a:xfrm>
          <a:prstGeom prst="straightConnector1">
            <a:avLst/>
          </a:prstGeom>
          <a:ln w="12700">
            <a:solidFill>
              <a:srgbClr val="58a6ff"/>
            </a:solidFill>
            <a:round/>
          </a:ln>
        </p:spPr>
      </p:cxnSp>
      <p:cxnSp>
        <p:nvCxnSpPr>
          <p:cNvPr id="131" name="Connector 47"/>
          <p:cNvCxnSpPr/>
          <p:nvPr/>
        </p:nvCxnSpPr>
        <p:spPr>
          <a:xfrm>
            <a:off x="5166360" y="3429000"/>
            <a:ext cx="2835000" cy="360"/>
          </a:xfrm>
          <a:prstGeom prst="straightConnector1">
            <a:avLst/>
          </a:prstGeom>
          <a:ln w="19050">
            <a:solidFill>
              <a:srgbClr val="f0883e"/>
            </a:solidFill>
            <a:round/>
          </a:ln>
        </p:spPr>
      </p:cxnSp>
      <p:cxnSp>
        <p:nvCxnSpPr>
          <p:cNvPr id="132" name="Connector 48"/>
          <p:cNvCxnSpPr/>
          <p:nvPr/>
        </p:nvCxnSpPr>
        <p:spPr>
          <a:xfrm>
            <a:off x="6583680" y="3429000"/>
            <a:ext cx="360" cy="869040"/>
          </a:xfrm>
          <a:prstGeom prst="straightConnector1">
            <a:avLst/>
          </a:prstGeom>
          <a:ln w="19050">
            <a:solidFill>
              <a:srgbClr val="58a6ff"/>
            </a:solidFill>
            <a:round/>
          </a:ln>
        </p:spPr>
      </p:cxnSp>
      <p:sp>
        <p:nvSpPr>
          <p:cNvPr id="133" name="TextBox 49"/>
          <p:cNvSpPr/>
          <p:nvPr/>
        </p:nvSpPr>
        <p:spPr>
          <a:xfrm>
            <a:off x="4434840" y="2450520"/>
            <a:ext cx="13712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b949e"/>
                </a:solidFill>
                <a:latin typeface="Calibri"/>
              </a:rPr>
              <a:t>bam_good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Box 50"/>
          <p:cNvSpPr/>
          <p:nvPr/>
        </p:nvSpPr>
        <p:spPr>
          <a:xfrm>
            <a:off x="5852160" y="2450520"/>
            <a:ext cx="13712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b949e"/>
                </a:solidFill>
                <a:latin typeface="Calibri"/>
              </a:rPr>
              <a:t>vcf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Box 51"/>
          <p:cNvSpPr/>
          <p:nvPr/>
        </p:nvSpPr>
        <p:spPr>
          <a:xfrm>
            <a:off x="4480560" y="1371600"/>
            <a:ext cx="1828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58a6ff"/>
                </a:solidFill>
                <a:latin typeface="Calibri"/>
              </a:rPr>
              <a:t>fastqc_reports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Box 52"/>
          <p:cNvSpPr/>
          <p:nvPr/>
        </p:nvSpPr>
        <p:spPr>
          <a:xfrm>
            <a:off x="4800600" y="3456360"/>
            <a:ext cx="2742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f0883e"/>
                </a:solidFill>
                <a:latin typeface="Calibri"/>
              </a:rPr>
              <a:t>trimmed_good + bam_good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Box 53"/>
          <p:cNvSpPr/>
          <p:nvPr/>
        </p:nvSpPr>
        <p:spPr>
          <a:xfrm>
            <a:off x="6675120" y="3977640"/>
            <a:ext cx="13712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b949e"/>
                </a:solidFill>
                <a:latin typeface="Calibri"/>
              </a:rPr>
              <a:t>&gt; 1 sample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8" name="Connector 54"/>
          <p:cNvCxnSpPr/>
          <p:nvPr/>
        </p:nvCxnSpPr>
        <p:spPr>
          <a:xfrm>
            <a:off x="274320" y="5806440"/>
            <a:ext cx="183240" cy="360"/>
          </a:xfrm>
          <a:prstGeom prst="straightConnector1">
            <a:avLst/>
          </a:prstGeom>
          <a:ln>
            <a:solidFill>
              <a:srgbClr val="3fb950"/>
            </a:solidFill>
            <a:round/>
          </a:ln>
        </p:spPr>
      </p:cxnSp>
      <p:sp>
        <p:nvSpPr>
          <p:cNvPr id="139" name="TextBox 55"/>
          <p:cNvSpPr/>
          <p:nvPr/>
        </p:nvSpPr>
        <p:spPr>
          <a:xfrm>
            <a:off x="502920" y="5696640"/>
            <a:ext cx="2285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— </a:t>
            </a: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основной поток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40" name="Connector 56"/>
          <p:cNvCxnSpPr/>
          <p:nvPr/>
        </p:nvCxnSpPr>
        <p:spPr>
          <a:xfrm>
            <a:off x="2743200" y="5806440"/>
            <a:ext cx="183240" cy="360"/>
          </a:xfrm>
          <a:prstGeom prst="straightConnector1">
            <a:avLst/>
          </a:prstGeom>
          <a:ln>
            <a:solidFill>
              <a:srgbClr val="58a6ff"/>
            </a:solidFill>
            <a:round/>
          </a:ln>
        </p:spPr>
      </p:cxnSp>
      <p:sp>
        <p:nvSpPr>
          <p:cNvPr id="141" name="TextBox 57"/>
          <p:cNvSpPr/>
          <p:nvPr/>
        </p:nvSpPr>
        <p:spPr>
          <a:xfrm>
            <a:off x="2971800" y="5696640"/>
            <a:ext cx="2285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— </a:t>
            </a: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дополнительные данные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42" name="Connector 58"/>
          <p:cNvCxnSpPr/>
          <p:nvPr/>
        </p:nvCxnSpPr>
        <p:spPr>
          <a:xfrm>
            <a:off x="5943600" y="5806440"/>
            <a:ext cx="183240" cy="360"/>
          </a:xfrm>
          <a:prstGeom prst="straightConnector1">
            <a:avLst/>
          </a:prstGeom>
          <a:ln>
            <a:solidFill>
              <a:srgbClr val="f0883e"/>
            </a:solidFill>
            <a:round/>
          </a:ln>
        </p:spPr>
      </p:cxnSp>
      <p:sp>
        <p:nvSpPr>
          <p:cNvPr id="143" name="TextBox 59"/>
          <p:cNvSpPr/>
          <p:nvPr/>
        </p:nvSpPr>
        <p:spPr>
          <a:xfrm>
            <a:off x="6172200" y="5696640"/>
            <a:ext cx="2285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— </a:t>
            </a: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фильтрованные данные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Box 60"/>
          <p:cNvSpPr/>
          <p:nvPr/>
        </p:nvSpPr>
        <p:spPr>
          <a:xfrm>
            <a:off x="1609920" y="6400800"/>
            <a:ext cx="437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84f58"/>
                </a:solidFill>
                <a:latin typeface="Calibri"/>
              </a:rPr>
              <a:t>2 / 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Box 61"/>
          <p:cNvSpPr/>
          <p:nvPr/>
        </p:nvSpPr>
        <p:spPr>
          <a:xfrm>
            <a:off x="9754920" y="6400800"/>
            <a:ext cx="1520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84f58"/>
                </a:solidFill>
                <a:latin typeface="Calibri"/>
              </a:rPr>
              <a:t>TB-Lite Pipeline | 2025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"/>
          <p:cNvSpPr/>
          <p:nvPr/>
        </p:nvSpPr>
        <p:spPr>
          <a:xfrm>
            <a:off x="0" y="0"/>
            <a:ext cx="54360" cy="6857640"/>
          </a:xfrm>
          <a:prstGeom prst="rect">
            <a:avLst/>
          </a:prstGeom>
          <a:solidFill>
            <a:srgbClr val="58a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TextBox 2"/>
          <p:cNvSpPr/>
          <p:nvPr/>
        </p:nvSpPr>
        <p:spPr>
          <a:xfrm>
            <a:off x="1596240" y="365760"/>
            <a:ext cx="8328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58a6ff"/>
                </a:solidFill>
                <a:latin typeface="Calibri"/>
              </a:rPr>
              <a:t>Контроль качества и фильтрация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Rounded Rectangle 3"/>
          <p:cNvSpPr/>
          <p:nvPr/>
        </p:nvSpPr>
        <p:spPr>
          <a:xfrm>
            <a:off x="457200" y="1188720"/>
            <a:ext cx="3017160" cy="1005480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TextBox 4"/>
          <p:cNvSpPr/>
          <p:nvPr/>
        </p:nvSpPr>
        <p:spPr>
          <a:xfrm>
            <a:off x="594360" y="1234440"/>
            <a:ext cx="2742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58a6ff"/>
                </a:solidFill>
                <a:latin typeface="Calibri"/>
              </a:rPr>
              <a:t>BAM-файл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Box 5"/>
          <p:cNvSpPr/>
          <p:nvPr/>
        </p:nvSpPr>
        <p:spPr>
          <a:xfrm>
            <a:off x="594360" y="1508760"/>
            <a:ext cx="27428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Картированные риды</a:t>
            </a:r>
            <a:br>
              <a:rPr sz="1100"/>
            </a:br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BWA-mem + Picard MarkDups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Rounded Rectangle 6"/>
          <p:cNvSpPr/>
          <p:nvPr/>
        </p:nvSpPr>
        <p:spPr>
          <a:xfrm>
            <a:off x="4114800" y="1188720"/>
            <a:ext cx="3017160" cy="1005480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TextBox 7"/>
          <p:cNvSpPr/>
          <p:nvPr/>
        </p:nvSpPr>
        <p:spPr>
          <a:xfrm>
            <a:off x="4251960" y="1234440"/>
            <a:ext cx="2742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58a6ff"/>
                </a:solidFill>
                <a:latin typeface="Calibri"/>
              </a:rPr>
              <a:t>3 модуля параллельно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Box 8"/>
          <p:cNvSpPr/>
          <p:nvPr/>
        </p:nvSpPr>
        <p:spPr>
          <a:xfrm>
            <a:off x="4251960" y="1508760"/>
            <a:ext cx="27428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Picard WGS</a:t>
            </a:r>
            <a:br>
              <a:rPr sz="1100"/>
            </a:br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Samtools stats</a:t>
            </a:r>
            <a:br>
              <a:rPr sz="1100"/>
            </a:br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TB-Mix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Rounded Rectangle 9"/>
          <p:cNvSpPr/>
          <p:nvPr/>
        </p:nvSpPr>
        <p:spPr>
          <a:xfrm>
            <a:off x="7772400" y="1188720"/>
            <a:ext cx="3017160" cy="1005480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TextBox 10"/>
          <p:cNvSpPr/>
          <p:nvPr/>
        </p:nvSpPr>
        <p:spPr>
          <a:xfrm>
            <a:off x="7909560" y="1234440"/>
            <a:ext cx="2742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58a6ff"/>
                </a:solidFill>
                <a:latin typeface="Calibri"/>
              </a:rPr>
              <a:t>Решение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Box 11"/>
          <p:cNvSpPr/>
          <p:nvPr/>
        </p:nvSpPr>
        <p:spPr>
          <a:xfrm>
            <a:off x="7909560" y="1508760"/>
            <a:ext cx="27428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PASS → дальнейший анализ</a:t>
            </a:r>
            <a:br>
              <a:rPr sz="1100"/>
            </a:br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FAIL → bad_reads_low_coverage.txt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Box 12"/>
          <p:cNvSpPr/>
          <p:nvPr/>
        </p:nvSpPr>
        <p:spPr>
          <a:xfrm>
            <a:off x="3200400" y="1463040"/>
            <a:ext cx="456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3fb950"/>
                </a:solidFill>
                <a:latin typeface="Calibri"/>
              </a:rPr>
              <a:t>→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Box 13"/>
          <p:cNvSpPr/>
          <p:nvPr/>
        </p:nvSpPr>
        <p:spPr>
          <a:xfrm>
            <a:off x="6858000" y="1463040"/>
            <a:ext cx="456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3fb950"/>
                </a:solidFill>
                <a:latin typeface="Calibri"/>
              </a:rPr>
              <a:t>→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Box 14"/>
          <p:cNvSpPr/>
          <p:nvPr/>
        </p:nvSpPr>
        <p:spPr>
          <a:xfrm>
            <a:off x="731520" y="246888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58a6ff"/>
                </a:solidFill>
                <a:latin typeface="Calibri"/>
              </a:rPr>
              <a:t>Пороговые значения фильтрации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Rounded Rectangle 15"/>
          <p:cNvSpPr/>
          <p:nvPr/>
        </p:nvSpPr>
        <p:spPr>
          <a:xfrm>
            <a:off x="457200" y="2880360"/>
            <a:ext cx="3200040" cy="1096920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3fb9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16"/>
          <p:cNvSpPr/>
          <p:nvPr/>
        </p:nvSpPr>
        <p:spPr>
          <a:xfrm>
            <a:off x="594360" y="2944440"/>
            <a:ext cx="2925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МЕДИАННОЕ ПОКРЫТИЕ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Box 17"/>
          <p:cNvSpPr/>
          <p:nvPr/>
        </p:nvSpPr>
        <p:spPr>
          <a:xfrm>
            <a:off x="594360" y="3182040"/>
            <a:ext cx="2925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3fb950"/>
                </a:solidFill>
                <a:latin typeface="Calibri"/>
              </a:rPr>
              <a:t>≥ </a:t>
            </a:r>
            <a:r>
              <a:rPr b="1" lang="en-US" sz="2600" spc="-1" strike="noStrike">
                <a:solidFill>
                  <a:srgbClr val="3fb950"/>
                </a:solidFill>
                <a:latin typeface="Calibri"/>
              </a:rPr>
              <a:t>30X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Box 18"/>
          <p:cNvSpPr/>
          <p:nvPr/>
        </p:nvSpPr>
        <p:spPr>
          <a:xfrm>
            <a:off x="594360" y="3639240"/>
            <a:ext cx="2925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Picard CollectWgsMetrics → median_coverage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Rounded Rectangle 19"/>
          <p:cNvSpPr/>
          <p:nvPr/>
        </p:nvSpPr>
        <p:spPr>
          <a:xfrm>
            <a:off x="4114800" y="2880360"/>
            <a:ext cx="3200040" cy="1096920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58a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TextBox 20"/>
          <p:cNvSpPr/>
          <p:nvPr/>
        </p:nvSpPr>
        <p:spPr>
          <a:xfrm>
            <a:off x="4251960" y="2944440"/>
            <a:ext cx="2925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ВЫРАВНЕННЫЕ РИДЫ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Box 21"/>
          <p:cNvSpPr/>
          <p:nvPr/>
        </p:nvSpPr>
        <p:spPr>
          <a:xfrm>
            <a:off x="4251960" y="3182040"/>
            <a:ext cx="2925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58a6ff"/>
                </a:solidFill>
                <a:latin typeface="Calibri"/>
              </a:rPr>
              <a:t>≥ </a:t>
            </a:r>
            <a:r>
              <a:rPr b="1" lang="en-US" sz="2600" spc="-1" strike="noStrike">
                <a:solidFill>
                  <a:srgbClr val="58a6ff"/>
                </a:solidFill>
                <a:latin typeface="Calibri"/>
              </a:rPr>
              <a:t>80%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Box 22"/>
          <p:cNvSpPr/>
          <p:nvPr/>
        </p:nvSpPr>
        <p:spPr>
          <a:xfrm>
            <a:off x="4251960" y="3639240"/>
            <a:ext cx="2925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Samtools stats → reads_mapped_percent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Rounded Rectangle 23"/>
          <p:cNvSpPr/>
          <p:nvPr/>
        </p:nvSpPr>
        <p:spPr>
          <a:xfrm>
            <a:off x="7772400" y="2880360"/>
            <a:ext cx="3200040" cy="1096920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f088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24"/>
          <p:cNvSpPr/>
          <p:nvPr/>
        </p:nvSpPr>
        <p:spPr>
          <a:xfrm>
            <a:off x="7909560" y="2944440"/>
            <a:ext cx="2925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КОНТАМИНАЦИЯ (TB-MIX)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Box 25"/>
          <p:cNvSpPr/>
          <p:nvPr/>
        </p:nvSpPr>
        <p:spPr>
          <a:xfrm>
            <a:off x="7909560" y="3182040"/>
            <a:ext cx="2925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0883e"/>
                </a:solidFill>
                <a:latin typeface="Calibri"/>
              </a:rPr>
              <a:t>&lt; 5%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Box 26"/>
          <p:cNvSpPr/>
          <p:nvPr/>
        </p:nvSpPr>
        <p:spPr>
          <a:xfrm>
            <a:off x="7909560" y="3639240"/>
            <a:ext cx="29257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tb_mix.py — детекция смешанных инфекций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Box 27"/>
          <p:cNvSpPr/>
          <p:nvPr/>
        </p:nvSpPr>
        <p:spPr>
          <a:xfrm>
            <a:off x="731520" y="4251960"/>
            <a:ext cx="9143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b949e"/>
                </a:solidFill>
                <a:latin typeface="Calibri"/>
              </a:rPr>
              <a:t>Как работает TB-Mix: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Box 28"/>
          <p:cNvSpPr/>
          <p:nvPr/>
        </p:nvSpPr>
        <p:spPr>
          <a:xfrm>
            <a:off x="731520" y="4526280"/>
            <a:ext cx="10058040" cy="97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▸  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Анализирует BAM-файл на гетерогенность аллельных частот в информативных SNP-позициях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▸  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Порог смешанной инфекции: минорный аллель 5%–95% (--mix-low 0.05, --mix-high 0.95)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▸  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Параметры фильтрации ридов: MQ ≥ 30, BQ ≥ 20, мин. частота аллеля ≥ 4%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▸  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Образец со смешанной инфекцией ≥ 5% → исключается из дальнейшего анализа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Box 29"/>
          <p:cNvSpPr/>
          <p:nvPr/>
        </p:nvSpPr>
        <p:spPr>
          <a:xfrm>
            <a:off x="1609920" y="6400800"/>
            <a:ext cx="437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84f58"/>
                </a:solidFill>
                <a:latin typeface="Calibri"/>
              </a:rPr>
              <a:t>3 / 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Box 30"/>
          <p:cNvSpPr/>
          <p:nvPr/>
        </p:nvSpPr>
        <p:spPr>
          <a:xfrm>
            <a:off x="9754920" y="6400800"/>
            <a:ext cx="1520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84f58"/>
                </a:solidFill>
                <a:latin typeface="Calibri"/>
              </a:rPr>
              <a:t>TB-Lite Pipeline | 2025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"/>
          <p:cNvSpPr/>
          <p:nvPr/>
        </p:nvSpPr>
        <p:spPr>
          <a:xfrm>
            <a:off x="0" y="0"/>
            <a:ext cx="54360" cy="6857640"/>
          </a:xfrm>
          <a:prstGeom prst="rect">
            <a:avLst/>
          </a:prstGeom>
          <a:solidFill>
            <a:srgbClr val="58a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TextBox 2"/>
          <p:cNvSpPr/>
          <p:nvPr/>
        </p:nvSpPr>
        <p:spPr>
          <a:xfrm>
            <a:off x="1831680" y="365760"/>
            <a:ext cx="7857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58a6ff"/>
                </a:solidFill>
                <a:latin typeface="Calibri"/>
              </a:rPr>
              <a:t>Генотипирование и результаты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Box 3"/>
          <p:cNvSpPr/>
          <p:nvPr/>
        </p:nvSpPr>
        <p:spPr>
          <a:xfrm>
            <a:off x="731520" y="1097280"/>
            <a:ext cx="45716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58a6ff"/>
                </a:solidFill>
                <a:latin typeface="Calibri"/>
              </a:rPr>
              <a:t>6 параллельных модулей генотипирования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79" name="Table 4"/>
          <p:cNvGraphicFramePr/>
          <p:nvPr/>
        </p:nvGraphicFramePr>
        <p:xfrm>
          <a:off x="731520" y="1463040"/>
          <a:ext cx="5303160" cy="1791720"/>
        </p:xfrm>
        <a:graphic>
          <a:graphicData uri="http://schemas.openxmlformats.org/drawingml/2006/table">
            <a:tbl>
              <a:tblPr/>
              <a:tblGrid>
                <a:gridCol w="1280160"/>
                <a:gridCol w="4023360"/>
              </a:tblGrid>
              <a:tr h="255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58a6ff"/>
                          </a:solidFill>
                          <a:latin typeface="Calibri"/>
                        </a:rPr>
                        <a:t>Модуль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58a6ff"/>
                          </a:solidFill>
                          <a:latin typeface="Calibri"/>
                        </a:rPr>
                        <a:t>Результат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1262d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TBLG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Филогенетическая линия (L1-L7, подлинии)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SpoTyping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Споликотип (43-спейсерный бинарный код)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TB-Profiler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Лекарственная устойчивость (RIF, INH, EMB...)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RD-анализ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Регионы делеций (RD105, RD239, RD750...)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ISMapper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Позиции IS6110 (только paired-end)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Mosdepth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Профиль глубины покрытия по геному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180" name="TextBox 5"/>
          <p:cNvSpPr/>
          <p:nvPr/>
        </p:nvSpPr>
        <p:spPr>
          <a:xfrm>
            <a:off x="731520" y="3611880"/>
            <a:ext cx="53031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Variant calling: Freebayes (ploidy=1, AF ≥ 80%, cov ≥ 10X)</a:t>
            </a:r>
            <a:br>
              <a:rPr sz="1100"/>
            </a:b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Аннотация: SnpEff (эффект мутаций, аминокислотные замены)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Box 6"/>
          <p:cNvSpPr/>
          <p:nvPr/>
        </p:nvSpPr>
        <p:spPr>
          <a:xfrm>
            <a:off x="6583680" y="1097280"/>
            <a:ext cx="45716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58a6ff"/>
                </a:solidFill>
                <a:latin typeface="Calibri"/>
              </a:rPr>
              <a:t>Выходные файлы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82" name="Table 7"/>
          <p:cNvGraphicFramePr/>
          <p:nvPr/>
        </p:nvGraphicFramePr>
        <p:xfrm>
          <a:off x="6583680" y="1463040"/>
          <a:ext cx="5028840" cy="204804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</a:tblGrid>
              <a:tr h="255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58a6ff"/>
                          </a:solidFill>
                          <a:latin typeface="Calibri"/>
                        </a:rPr>
                        <a:t>Файл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58a6ff"/>
                          </a:solidFill>
                          <a:latin typeface="Calibri"/>
                        </a:rPr>
                        <a:t>Описание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1262d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FINAL_TABLE.xlsx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Сводная таблица всех образцов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general.tsv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QC-метрики когорты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dr.xlsx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Лекарственная устойчивость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spotyping.total.tsv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Споликотипы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rd.tsv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Делеции (RD)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filter.tbmix.tsv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TB-Mix + линии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MultiQC HTML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Интерактивный QC-дашборд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183" name="TextBox 8"/>
          <p:cNvSpPr/>
          <p:nvPr/>
        </p:nvSpPr>
        <p:spPr>
          <a:xfrm>
            <a:off x="6583680" y="3611880"/>
            <a:ext cx="50288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При &gt; 1 образце: ANN_TABLE — когортная матрица SNP</a:t>
            </a:r>
            <a:br>
              <a:rPr sz="1100"/>
            </a:b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(bcftools merge → SnpEff → SnpSift → TSV)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Box 9"/>
          <p:cNvSpPr/>
          <p:nvPr/>
        </p:nvSpPr>
        <p:spPr>
          <a:xfrm>
            <a:off x="1609920" y="6400800"/>
            <a:ext cx="437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84f58"/>
                </a:solidFill>
                <a:latin typeface="Calibri"/>
              </a:rPr>
              <a:t>4 / 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Box 10"/>
          <p:cNvSpPr/>
          <p:nvPr/>
        </p:nvSpPr>
        <p:spPr>
          <a:xfrm>
            <a:off x="9754920" y="6400800"/>
            <a:ext cx="1520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84f58"/>
                </a:solidFill>
                <a:latin typeface="Calibri"/>
              </a:rPr>
              <a:t>TB-Lite Pipeline | 2025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"/>
          <p:cNvSpPr/>
          <p:nvPr/>
        </p:nvSpPr>
        <p:spPr>
          <a:xfrm>
            <a:off x="0" y="0"/>
            <a:ext cx="54360" cy="6857640"/>
          </a:xfrm>
          <a:prstGeom prst="rect">
            <a:avLst/>
          </a:prstGeom>
          <a:solidFill>
            <a:srgbClr val="58a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TextBox 2"/>
          <p:cNvSpPr/>
          <p:nvPr/>
        </p:nvSpPr>
        <p:spPr>
          <a:xfrm>
            <a:off x="813600" y="365760"/>
            <a:ext cx="9893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58a6ff"/>
                </a:solidFill>
                <a:latin typeface="Calibri"/>
              </a:rPr>
              <a:t>Деплой, ресурсы и производительность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Box 3"/>
          <p:cNvSpPr/>
          <p:nvPr/>
        </p:nvSpPr>
        <p:spPr>
          <a:xfrm>
            <a:off x="731520" y="1097280"/>
            <a:ext cx="45716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58a6ff"/>
                </a:solidFill>
                <a:latin typeface="Calibri"/>
              </a:rPr>
              <a:t>Варианты запуска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Rounded Rectangle 4"/>
          <p:cNvSpPr/>
          <p:nvPr/>
        </p:nvSpPr>
        <p:spPr>
          <a:xfrm>
            <a:off x="731520" y="1463040"/>
            <a:ext cx="4845960" cy="566640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3fb9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" name="TextBox 5"/>
          <p:cNvSpPr/>
          <p:nvPr/>
        </p:nvSpPr>
        <p:spPr>
          <a:xfrm>
            <a:off x="868680" y="1499760"/>
            <a:ext cx="4571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ЛОКАЛЬНО / HPC (SINGULARITY)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Box 6"/>
          <p:cNvSpPr/>
          <p:nvPr/>
        </p:nvSpPr>
        <p:spPr>
          <a:xfrm>
            <a:off x="868680" y="1719000"/>
            <a:ext cx="4571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nextflow run main.nf -profile local -resume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Rounded Rectangle 7"/>
          <p:cNvSpPr/>
          <p:nvPr/>
        </p:nvSpPr>
        <p:spPr>
          <a:xfrm>
            <a:off x="731520" y="2121480"/>
            <a:ext cx="4845960" cy="566640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58a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TextBox 8"/>
          <p:cNvSpPr/>
          <p:nvPr/>
        </p:nvSpPr>
        <p:spPr>
          <a:xfrm>
            <a:off x="868680" y="2157840"/>
            <a:ext cx="4571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СЕРВЕР (DOCKER)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Box 9"/>
          <p:cNvSpPr/>
          <p:nvPr/>
        </p:nvSpPr>
        <p:spPr>
          <a:xfrm>
            <a:off x="868680" y="2377440"/>
            <a:ext cx="4571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nextflow run main.nf -resume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Rounded Rectangle 10"/>
          <p:cNvSpPr/>
          <p:nvPr/>
        </p:nvSpPr>
        <p:spPr>
          <a:xfrm>
            <a:off x="731520" y="2779920"/>
            <a:ext cx="4845960" cy="566640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f088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" name="TextBox 11"/>
          <p:cNvSpPr/>
          <p:nvPr/>
        </p:nvSpPr>
        <p:spPr>
          <a:xfrm>
            <a:off x="868680" y="2816280"/>
            <a:ext cx="4571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KUBERNETES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Box 12"/>
          <p:cNvSpPr/>
          <p:nvPr/>
        </p:nvSpPr>
        <p:spPr>
          <a:xfrm>
            <a:off x="868680" y="3035880"/>
            <a:ext cx="4571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nextflow run main.nf -profile k8s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Box 13"/>
          <p:cNvSpPr/>
          <p:nvPr/>
        </p:nvSpPr>
        <p:spPr>
          <a:xfrm>
            <a:off x="731520" y="3520440"/>
            <a:ext cx="45716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58a6ff"/>
                </a:solidFill>
                <a:latin typeface="Calibri"/>
              </a:rPr>
              <a:t>Контейнеры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Box 14"/>
          <p:cNvSpPr/>
          <p:nvPr/>
        </p:nvSpPr>
        <p:spPr>
          <a:xfrm>
            <a:off x="731520" y="3794760"/>
            <a:ext cx="457164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▸  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15 кастомных Docker-образов + 8 из Docker Hub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▸  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Поддержка Singularity (.sif) и Docker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Box 15"/>
          <p:cNvSpPr/>
          <p:nvPr/>
        </p:nvSpPr>
        <p:spPr>
          <a:xfrm>
            <a:off x="6126480" y="1097280"/>
            <a:ext cx="5668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58a6ff"/>
                </a:solidFill>
                <a:latin typeface="Calibri"/>
              </a:rPr>
              <a:t>Время на 1 образец (полный прогон, 16 обр.)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201" name="Table 16"/>
          <p:cNvGraphicFramePr/>
          <p:nvPr/>
        </p:nvGraphicFramePr>
        <p:xfrm>
          <a:off x="6126480" y="1417320"/>
          <a:ext cx="5120280" cy="204804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914400"/>
                <a:gridCol w="1645920"/>
              </a:tblGrid>
              <a:tr h="255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58a6ff"/>
                          </a:solidFill>
                          <a:latin typeface="Calibri"/>
                        </a:rPr>
                        <a:t>Этап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58a6ff"/>
                          </a:solidFill>
                          <a:latin typeface="Calibri"/>
                        </a:rPr>
                        <a:t>Среднее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58a6ff"/>
                          </a:solidFill>
                          <a:latin typeface="Calibri"/>
                        </a:rPr>
                        <a:t>Макс.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58a6ff"/>
                          </a:solidFill>
                          <a:latin typeface="Calibri"/>
                        </a:rPr>
                        <a:t>Peak RAM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1262d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1. FASTP (тримминг)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28 сек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54 сек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1.5 ГБ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2. FastQC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11 сек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27 сек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1.6 ГБ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3. BWA + Picard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1.0 мин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3.2 мин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3.5 ГБ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4. FILTER (3 модуля)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55 сек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1.7 мин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692 МБ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5. Freebayes + SnpEff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51 сек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1.5 мин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270 МБ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6. Genotyping (6 мод.)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57 сек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2.9 мин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979 МБ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Итого на 1 обр.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~5.5 мин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e6edf3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6edf3"/>
                          </a:solidFill>
                          <a:latin typeface="Calibri"/>
                        </a:rPr>
                        <a:t>bottleneck: BWA+Picard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202" name="Rounded Rectangle 17"/>
          <p:cNvSpPr/>
          <p:nvPr/>
        </p:nvSpPr>
        <p:spPr>
          <a:xfrm>
            <a:off x="6126480" y="3794760"/>
            <a:ext cx="2651400" cy="749520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3fb9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TextBox 18"/>
          <p:cNvSpPr/>
          <p:nvPr/>
        </p:nvSpPr>
        <p:spPr>
          <a:xfrm>
            <a:off x="6236280" y="3840480"/>
            <a:ext cx="24318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b949e"/>
                </a:solidFill>
                <a:latin typeface="Calibri"/>
              </a:rPr>
              <a:t>16 ОБРАЗЦОВ (ПОЛНЫЙ)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Box 19"/>
          <p:cNvSpPr/>
          <p:nvPr/>
        </p:nvSpPr>
        <p:spPr>
          <a:xfrm>
            <a:off x="6236280" y="4032360"/>
            <a:ext cx="2431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3fb950"/>
                </a:solidFill>
                <a:latin typeface="Calibri"/>
              </a:rPr>
              <a:t>24 мин 39 сек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Box 20"/>
          <p:cNvSpPr/>
          <p:nvPr/>
        </p:nvSpPr>
        <p:spPr>
          <a:xfrm>
            <a:off x="6236280" y="4325040"/>
            <a:ext cx="2431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wall clock, 244 задачи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Rounded Rectangle 21"/>
          <p:cNvSpPr/>
          <p:nvPr/>
        </p:nvSpPr>
        <p:spPr>
          <a:xfrm>
            <a:off x="8915400" y="3794760"/>
            <a:ext cx="2651400" cy="749520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58a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" name="TextBox 22"/>
          <p:cNvSpPr/>
          <p:nvPr/>
        </p:nvSpPr>
        <p:spPr>
          <a:xfrm>
            <a:off x="9025200" y="3840480"/>
            <a:ext cx="24318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b949e"/>
                </a:solidFill>
                <a:latin typeface="Calibri"/>
              </a:rPr>
              <a:t>100 ОБР. (ЭКСТРАПОЛЯЦИЯ)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Box 23"/>
          <p:cNvSpPr/>
          <p:nvPr/>
        </p:nvSpPr>
        <p:spPr>
          <a:xfrm>
            <a:off x="9025200" y="4032360"/>
            <a:ext cx="2431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58a6ff"/>
                </a:solidFill>
                <a:latin typeface="Calibri"/>
              </a:rPr>
              <a:t>~1.5–2.5 ч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Box 24"/>
          <p:cNvSpPr/>
          <p:nvPr/>
        </p:nvSpPr>
        <p:spPr>
          <a:xfrm>
            <a:off x="9025200" y="4325040"/>
            <a:ext cx="2431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12 параллельных задач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Rounded Rectangle 25"/>
          <p:cNvSpPr/>
          <p:nvPr/>
        </p:nvSpPr>
        <p:spPr>
          <a:xfrm>
            <a:off x="6126480" y="4654440"/>
            <a:ext cx="2651400" cy="749520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f088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" name="TextBox 26"/>
          <p:cNvSpPr/>
          <p:nvPr/>
        </p:nvSpPr>
        <p:spPr>
          <a:xfrm>
            <a:off x="6236280" y="4700160"/>
            <a:ext cx="24318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b949e"/>
                </a:solidFill>
                <a:latin typeface="Calibri"/>
              </a:rPr>
              <a:t>ОПЕРАТИВНАЯ ПАМЯТЬ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Box 27"/>
          <p:cNvSpPr/>
          <p:nvPr/>
        </p:nvSpPr>
        <p:spPr>
          <a:xfrm>
            <a:off x="6236280" y="4892040"/>
            <a:ext cx="2431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0883e"/>
                </a:solidFill>
                <a:latin typeface="Calibri"/>
              </a:rPr>
              <a:t>≥ </a:t>
            </a:r>
            <a:r>
              <a:rPr b="1" lang="en-US" sz="1800" spc="-1" strike="noStrike">
                <a:solidFill>
                  <a:srgbClr val="f0883e"/>
                </a:solidFill>
                <a:latin typeface="Calibri"/>
              </a:rPr>
              <a:t>8 ГБ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Box 28"/>
          <p:cNvSpPr/>
          <p:nvPr/>
        </p:nvSpPr>
        <p:spPr>
          <a:xfrm>
            <a:off x="6236280" y="5184720"/>
            <a:ext cx="2431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пик: BWA+Picard 3.5 ГБ, FastQC 1.6 ГБ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Rounded Rectangle 29"/>
          <p:cNvSpPr/>
          <p:nvPr/>
        </p:nvSpPr>
        <p:spPr>
          <a:xfrm>
            <a:off x="8915400" y="4654440"/>
            <a:ext cx="2651400" cy="749520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8b949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" name="TextBox 30"/>
          <p:cNvSpPr/>
          <p:nvPr/>
        </p:nvSpPr>
        <p:spPr>
          <a:xfrm>
            <a:off x="9025200" y="4700160"/>
            <a:ext cx="24318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b949e"/>
                </a:solidFill>
                <a:latin typeface="Calibri"/>
              </a:rPr>
              <a:t>ДИСКОВОЕ ПРОСТРАНСТВО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Box 31"/>
          <p:cNvSpPr/>
          <p:nvPr/>
        </p:nvSpPr>
        <p:spPr>
          <a:xfrm>
            <a:off x="9025200" y="4892040"/>
            <a:ext cx="2431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8b949e"/>
                </a:solidFill>
                <a:latin typeface="Calibri"/>
              </a:rPr>
              <a:t>~1–2 ГБ/обр.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Box 32"/>
          <p:cNvSpPr/>
          <p:nvPr/>
        </p:nvSpPr>
        <p:spPr>
          <a:xfrm>
            <a:off x="9025200" y="5184720"/>
            <a:ext cx="2431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49e"/>
                </a:solidFill>
                <a:latin typeface="Calibri"/>
              </a:rPr>
              <a:t>100 обр. ≈ 100–200 ГБ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Box 33"/>
          <p:cNvSpPr/>
          <p:nvPr/>
        </p:nvSpPr>
        <p:spPr>
          <a:xfrm>
            <a:off x="1609920" y="6400800"/>
            <a:ext cx="437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84f58"/>
                </a:solidFill>
                <a:latin typeface="Calibri"/>
              </a:rPr>
              <a:t>5 / 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Box 34"/>
          <p:cNvSpPr/>
          <p:nvPr/>
        </p:nvSpPr>
        <p:spPr>
          <a:xfrm>
            <a:off x="8768160" y="6400800"/>
            <a:ext cx="34945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84f58"/>
                </a:solidFill>
                <a:latin typeface="Calibri"/>
              </a:rPr>
              <a:t>TB-Lite Pipeline | trace 2026-03-29 (16 samples, full run)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2026-03-29T11:11:22Z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